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Etna Sans Serif" charset="1" panose="02000600000000000000"/>
      <p:regular r:id="rId20"/>
    </p:embeddedFont>
    <p:embeddedFont>
      <p:font typeface="Glacial Indifference" charset="1" panose="00000000000000000000"/>
      <p:regular r:id="rId21"/>
    </p:embeddedFont>
    <p:embeddedFont>
      <p:font typeface="Glacial Indifference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3D20CB">
                <a:alpha val="100000"/>
              </a:srgbClr>
            </a:gs>
            <a:gs pos="66667">
              <a:srgbClr val="050E5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11467" y="9170287"/>
            <a:ext cx="5940040" cy="864006"/>
          </a:xfrm>
          <a:custGeom>
            <a:avLst/>
            <a:gdLst/>
            <a:ahLst/>
            <a:cxnLst/>
            <a:rect r="r" b="b" t="t" l="l"/>
            <a:pathLst>
              <a:path h="864006" w="5940040">
                <a:moveTo>
                  <a:pt x="0" y="0"/>
                </a:moveTo>
                <a:lnTo>
                  <a:pt x="5940040" y="0"/>
                </a:lnTo>
                <a:lnTo>
                  <a:pt x="5940040" y="864006"/>
                </a:lnTo>
                <a:lnTo>
                  <a:pt x="0" y="864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42642" y="4966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30"/>
                </a:lnTo>
                <a:lnTo>
                  <a:pt x="0" y="1064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87685" y="3236822"/>
            <a:ext cx="7912631" cy="46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9"/>
              </a:lnSpc>
            </a:pPr>
            <a:r>
              <a:rPr lang="en-US" sz="2763" spc="80" strike="noStrike" u="none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POWER FIT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85023" y="4481762"/>
            <a:ext cx="9517954" cy="148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89"/>
              </a:lnSpc>
            </a:pPr>
            <a:r>
              <a:rPr lang="en-US" sz="4278" spc="124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FOCUS POWER FIT CRM SISTEMA DE GESTIÓN INTEGRAL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85023" y="6632710"/>
            <a:ext cx="9517954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Integrantes:  Katherine Hermosilla · Martina Vergara · Javier Vergara · Carrera: Ingeniería en Informática · Sede: San Joaquín · Asignatura: Capstone – Ingeniería Informática · Fecha: 03/09/2026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3341347" y="-107671"/>
            <a:ext cx="7315200" cy="505414"/>
          </a:xfrm>
          <a:custGeom>
            <a:avLst/>
            <a:gdLst/>
            <a:ahLst/>
            <a:cxnLst/>
            <a:rect r="r" b="b" t="t" l="l"/>
            <a:pathLst>
              <a:path h="505414" w="7315200">
                <a:moveTo>
                  <a:pt x="7315200" y="0"/>
                </a:moveTo>
                <a:lnTo>
                  <a:pt x="0" y="0"/>
                </a:lnTo>
                <a:lnTo>
                  <a:pt x="0" y="505414"/>
                </a:lnTo>
                <a:lnTo>
                  <a:pt x="7315200" y="50541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83450" y="9781586"/>
            <a:ext cx="7315200" cy="505414"/>
          </a:xfrm>
          <a:custGeom>
            <a:avLst/>
            <a:gdLst/>
            <a:ahLst/>
            <a:cxnLst/>
            <a:rect r="r" b="b" t="t" l="l"/>
            <a:pathLst>
              <a:path h="505414" w="7315200">
                <a:moveTo>
                  <a:pt x="0" y="0"/>
                </a:moveTo>
                <a:lnTo>
                  <a:pt x="7315200" y="0"/>
                </a:lnTo>
                <a:lnTo>
                  <a:pt x="7315200" y="505414"/>
                </a:lnTo>
                <a:lnTo>
                  <a:pt x="0" y="505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91689">
                <a:alpha val="100000"/>
              </a:srgbClr>
            </a:gs>
            <a:gs pos="66667">
              <a:srgbClr val="3820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9042" y="4332755"/>
            <a:ext cx="5326415" cy="837003"/>
            <a:chOff x="0" y="0"/>
            <a:chExt cx="1665833" cy="2617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5833" cy="261772"/>
            </a:xfrm>
            <a:custGeom>
              <a:avLst/>
              <a:gdLst/>
              <a:ahLst/>
              <a:cxnLst/>
              <a:rect r="r" b="b" t="t" l="l"/>
              <a:pathLst>
                <a:path h="261772" w="1665833">
                  <a:moveTo>
                    <a:pt x="10174" y="0"/>
                  </a:moveTo>
                  <a:lnTo>
                    <a:pt x="1655659" y="0"/>
                  </a:lnTo>
                  <a:cubicBezTo>
                    <a:pt x="1658357" y="0"/>
                    <a:pt x="1660945" y="1072"/>
                    <a:pt x="1662853" y="2980"/>
                  </a:cubicBezTo>
                  <a:cubicBezTo>
                    <a:pt x="1664761" y="4888"/>
                    <a:pt x="1665833" y="7476"/>
                    <a:pt x="1665833" y="10174"/>
                  </a:cubicBezTo>
                  <a:lnTo>
                    <a:pt x="1665833" y="251598"/>
                  </a:lnTo>
                  <a:cubicBezTo>
                    <a:pt x="1665833" y="254296"/>
                    <a:pt x="1664761" y="256884"/>
                    <a:pt x="1662853" y="258792"/>
                  </a:cubicBezTo>
                  <a:cubicBezTo>
                    <a:pt x="1660945" y="260700"/>
                    <a:pt x="1658357" y="261772"/>
                    <a:pt x="1655659" y="261772"/>
                  </a:cubicBezTo>
                  <a:lnTo>
                    <a:pt x="10174" y="261772"/>
                  </a:lnTo>
                  <a:cubicBezTo>
                    <a:pt x="7476" y="261772"/>
                    <a:pt x="4888" y="260700"/>
                    <a:pt x="2980" y="258792"/>
                  </a:cubicBezTo>
                  <a:cubicBezTo>
                    <a:pt x="1072" y="256884"/>
                    <a:pt x="0" y="254296"/>
                    <a:pt x="0" y="251598"/>
                  </a:cubicBezTo>
                  <a:lnTo>
                    <a:pt x="0" y="10174"/>
                  </a:lnTo>
                  <a:cubicBezTo>
                    <a:pt x="0" y="7476"/>
                    <a:pt x="1072" y="4888"/>
                    <a:pt x="2980" y="2980"/>
                  </a:cubicBezTo>
                  <a:cubicBezTo>
                    <a:pt x="4888" y="1072"/>
                    <a:pt x="7476" y="0"/>
                    <a:pt x="10174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65833" cy="299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  <a:r>
                <a:rPr lang="en-US" sz="1914" spc="99" strike="noStrike" u="none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CONTEXTO Y PROBLEMÁTICA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9042" y="5528390"/>
            <a:ext cx="5326415" cy="837003"/>
            <a:chOff x="0" y="0"/>
            <a:chExt cx="1665833" cy="2617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5833" cy="261772"/>
            </a:xfrm>
            <a:custGeom>
              <a:avLst/>
              <a:gdLst/>
              <a:ahLst/>
              <a:cxnLst/>
              <a:rect r="r" b="b" t="t" l="l"/>
              <a:pathLst>
                <a:path h="261772" w="1665833">
                  <a:moveTo>
                    <a:pt x="10174" y="0"/>
                  </a:moveTo>
                  <a:lnTo>
                    <a:pt x="1655659" y="0"/>
                  </a:lnTo>
                  <a:cubicBezTo>
                    <a:pt x="1658357" y="0"/>
                    <a:pt x="1660945" y="1072"/>
                    <a:pt x="1662853" y="2980"/>
                  </a:cubicBezTo>
                  <a:cubicBezTo>
                    <a:pt x="1664761" y="4888"/>
                    <a:pt x="1665833" y="7476"/>
                    <a:pt x="1665833" y="10174"/>
                  </a:cubicBezTo>
                  <a:lnTo>
                    <a:pt x="1665833" y="251598"/>
                  </a:lnTo>
                  <a:cubicBezTo>
                    <a:pt x="1665833" y="254296"/>
                    <a:pt x="1664761" y="256884"/>
                    <a:pt x="1662853" y="258792"/>
                  </a:cubicBezTo>
                  <a:cubicBezTo>
                    <a:pt x="1660945" y="260700"/>
                    <a:pt x="1658357" y="261772"/>
                    <a:pt x="1655659" y="261772"/>
                  </a:cubicBezTo>
                  <a:lnTo>
                    <a:pt x="10174" y="261772"/>
                  </a:lnTo>
                  <a:cubicBezTo>
                    <a:pt x="7476" y="261772"/>
                    <a:pt x="4888" y="260700"/>
                    <a:pt x="2980" y="258792"/>
                  </a:cubicBezTo>
                  <a:cubicBezTo>
                    <a:pt x="1072" y="256884"/>
                    <a:pt x="0" y="254296"/>
                    <a:pt x="0" y="251598"/>
                  </a:cubicBezTo>
                  <a:lnTo>
                    <a:pt x="0" y="10174"/>
                  </a:lnTo>
                  <a:cubicBezTo>
                    <a:pt x="0" y="7476"/>
                    <a:pt x="1072" y="4888"/>
                    <a:pt x="2980" y="2980"/>
                  </a:cubicBezTo>
                  <a:cubicBezTo>
                    <a:pt x="4888" y="1072"/>
                    <a:pt x="7476" y="0"/>
                    <a:pt x="10174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65833" cy="299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  <a:r>
                <a:rPr lang="en-US" sz="1914" spc="9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VÍNCULO CON PERFIL DE EGRESO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79042" y="6721767"/>
            <a:ext cx="5326415" cy="837003"/>
            <a:chOff x="0" y="0"/>
            <a:chExt cx="1665833" cy="2617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65833" cy="261772"/>
            </a:xfrm>
            <a:custGeom>
              <a:avLst/>
              <a:gdLst/>
              <a:ahLst/>
              <a:cxnLst/>
              <a:rect r="r" b="b" t="t" l="l"/>
              <a:pathLst>
                <a:path h="261772" w="1665833">
                  <a:moveTo>
                    <a:pt x="10174" y="0"/>
                  </a:moveTo>
                  <a:lnTo>
                    <a:pt x="1655659" y="0"/>
                  </a:lnTo>
                  <a:cubicBezTo>
                    <a:pt x="1658357" y="0"/>
                    <a:pt x="1660945" y="1072"/>
                    <a:pt x="1662853" y="2980"/>
                  </a:cubicBezTo>
                  <a:cubicBezTo>
                    <a:pt x="1664761" y="4888"/>
                    <a:pt x="1665833" y="7476"/>
                    <a:pt x="1665833" y="10174"/>
                  </a:cubicBezTo>
                  <a:lnTo>
                    <a:pt x="1665833" y="251598"/>
                  </a:lnTo>
                  <a:cubicBezTo>
                    <a:pt x="1665833" y="254296"/>
                    <a:pt x="1664761" y="256884"/>
                    <a:pt x="1662853" y="258792"/>
                  </a:cubicBezTo>
                  <a:cubicBezTo>
                    <a:pt x="1660945" y="260700"/>
                    <a:pt x="1658357" y="261772"/>
                    <a:pt x="1655659" y="261772"/>
                  </a:cubicBezTo>
                  <a:lnTo>
                    <a:pt x="10174" y="261772"/>
                  </a:lnTo>
                  <a:cubicBezTo>
                    <a:pt x="7476" y="261772"/>
                    <a:pt x="4888" y="260700"/>
                    <a:pt x="2980" y="258792"/>
                  </a:cubicBezTo>
                  <a:cubicBezTo>
                    <a:pt x="1072" y="256884"/>
                    <a:pt x="0" y="254296"/>
                    <a:pt x="0" y="251598"/>
                  </a:cubicBezTo>
                  <a:lnTo>
                    <a:pt x="0" y="10174"/>
                  </a:lnTo>
                  <a:cubicBezTo>
                    <a:pt x="0" y="7476"/>
                    <a:pt x="1072" y="4888"/>
                    <a:pt x="2980" y="2980"/>
                  </a:cubicBezTo>
                  <a:cubicBezTo>
                    <a:pt x="4888" y="1072"/>
                    <a:pt x="7476" y="0"/>
                    <a:pt x="10174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65833" cy="299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  <a:r>
                <a:rPr lang="en-US" sz="1914" spc="9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FACTIBILIDAD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82543" y="4332755"/>
            <a:ext cx="5326415" cy="837003"/>
            <a:chOff x="0" y="0"/>
            <a:chExt cx="1665833" cy="2617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65833" cy="261772"/>
            </a:xfrm>
            <a:custGeom>
              <a:avLst/>
              <a:gdLst/>
              <a:ahLst/>
              <a:cxnLst/>
              <a:rect r="r" b="b" t="t" l="l"/>
              <a:pathLst>
                <a:path h="261772" w="1665833">
                  <a:moveTo>
                    <a:pt x="10174" y="0"/>
                  </a:moveTo>
                  <a:lnTo>
                    <a:pt x="1655659" y="0"/>
                  </a:lnTo>
                  <a:cubicBezTo>
                    <a:pt x="1658357" y="0"/>
                    <a:pt x="1660945" y="1072"/>
                    <a:pt x="1662853" y="2980"/>
                  </a:cubicBezTo>
                  <a:cubicBezTo>
                    <a:pt x="1664761" y="4888"/>
                    <a:pt x="1665833" y="7476"/>
                    <a:pt x="1665833" y="10174"/>
                  </a:cubicBezTo>
                  <a:lnTo>
                    <a:pt x="1665833" y="251598"/>
                  </a:lnTo>
                  <a:cubicBezTo>
                    <a:pt x="1665833" y="254296"/>
                    <a:pt x="1664761" y="256884"/>
                    <a:pt x="1662853" y="258792"/>
                  </a:cubicBezTo>
                  <a:cubicBezTo>
                    <a:pt x="1660945" y="260700"/>
                    <a:pt x="1658357" y="261772"/>
                    <a:pt x="1655659" y="261772"/>
                  </a:cubicBezTo>
                  <a:lnTo>
                    <a:pt x="10174" y="261772"/>
                  </a:lnTo>
                  <a:cubicBezTo>
                    <a:pt x="7476" y="261772"/>
                    <a:pt x="4888" y="260700"/>
                    <a:pt x="2980" y="258792"/>
                  </a:cubicBezTo>
                  <a:cubicBezTo>
                    <a:pt x="1072" y="256884"/>
                    <a:pt x="0" y="254296"/>
                    <a:pt x="0" y="251598"/>
                  </a:cubicBezTo>
                  <a:lnTo>
                    <a:pt x="0" y="10174"/>
                  </a:lnTo>
                  <a:cubicBezTo>
                    <a:pt x="0" y="7476"/>
                    <a:pt x="1072" y="4888"/>
                    <a:pt x="2980" y="2980"/>
                  </a:cubicBezTo>
                  <a:cubicBezTo>
                    <a:pt x="4888" y="1072"/>
                    <a:pt x="7476" y="0"/>
                    <a:pt x="10174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65833" cy="299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  <a:r>
                <a:rPr lang="en-US" sz="1914" spc="9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DESCRIPCIÓN DEL PROYECTO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82543" y="5528390"/>
            <a:ext cx="5326415" cy="837003"/>
            <a:chOff x="0" y="0"/>
            <a:chExt cx="1665833" cy="2617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65833" cy="261772"/>
            </a:xfrm>
            <a:custGeom>
              <a:avLst/>
              <a:gdLst/>
              <a:ahLst/>
              <a:cxnLst/>
              <a:rect r="r" b="b" t="t" l="l"/>
              <a:pathLst>
                <a:path h="261772" w="1665833">
                  <a:moveTo>
                    <a:pt x="10174" y="0"/>
                  </a:moveTo>
                  <a:lnTo>
                    <a:pt x="1655659" y="0"/>
                  </a:lnTo>
                  <a:cubicBezTo>
                    <a:pt x="1658357" y="0"/>
                    <a:pt x="1660945" y="1072"/>
                    <a:pt x="1662853" y="2980"/>
                  </a:cubicBezTo>
                  <a:cubicBezTo>
                    <a:pt x="1664761" y="4888"/>
                    <a:pt x="1665833" y="7476"/>
                    <a:pt x="1665833" y="10174"/>
                  </a:cubicBezTo>
                  <a:lnTo>
                    <a:pt x="1665833" y="251598"/>
                  </a:lnTo>
                  <a:cubicBezTo>
                    <a:pt x="1665833" y="254296"/>
                    <a:pt x="1664761" y="256884"/>
                    <a:pt x="1662853" y="258792"/>
                  </a:cubicBezTo>
                  <a:cubicBezTo>
                    <a:pt x="1660945" y="260700"/>
                    <a:pt x="1658357" y="261772"/>
                    <a:pt x="1655659" y="261772"/>
                  </a:cubicBezTo>
                  <a:lnTo>
                    <a:pt x="10174" y="261772"/>
                  </a:lnTo>
                  <a:cubicBezTo>
                    <a:pt x="7476" y="261772"/>
                    <a:pt x="4888" y="260700"/>
                    <a:pt x="2980" y="258792"/>
                  </a:cubicBezTo>
                  <a:cubicBezTo>
                    <a:pt x="1072" y="256884"/>
                    <a:pt x="0" y="254296"/>
                    <a:pt x="0" y="251598"/>
                  </a:cubicBezTo>
                  <a:lnTo>
                    <a:pt x="0" y="10174"/>
                  </a:lnTo>
                  <a:cubicBezTo>
                    <a:pt x="0" y="7476"/>
                    <a:pt x="1072" y="4888"/>
                    <a:pt x="2980" y="2980"/>
                  </a:cubicBezTo>
                  <a:cubicBezTo>
                    <a:pt x="4888" y="1072"/>
                    <a:pt x="7476" y="0"/>
                    <a:pt x="10174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65833" cy="299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  <a:r>
                <a:rPr lang="en-US" sz="1914" spc="9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INTERESES PROFESIONALES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82543" y="6721767"/>
            <a:ext cx="5326415" cy="837003"/>
            <a:chOff x="0" y="0"/>
            <a:chExt cx="1665833" cy="2617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65833" cy="261772"/>
            </a:xfrm>
            <a:custGeom>
              <a:avLst/>
              <a:gdLst/>
              <a:ahLst/>
              <a:cxnLst/>
              <a:rect r="r" b="b" t="t" l="l"/>
              <a:pathLst>
                <a:path h="261772" w="1665833">
                  <a:moveTo>
                    <a:pt x="10174" y="0"/>
                  </a:moveTo>
                  <a:lnTo>
                    <a:pt x="1655659" y="0"/>
                  </a:lnTo>
                  <a:cubicBezTo>
                    <a:pt x="1658357" y="0"/>
                    <a:pt x="1660945" y="1072"/>
                    <a:pt x="1662853" y="2980"/>
                  </a:cubicBezTo>
                  <a:cubicBezTo>
                    <a:pt x="1664761" y="4888"/>
                    <a:pt x="1665833" y="7476"/>
                    <a:pt x="1665833" y="10174"/>
                  </a:cubicBezTo>
                  <a:lnTo>
                    <a:pt x="1665833" y="251598"/>
                  </a:lnTo>
                  <a:cubicBezTo>
                    <a:pt x="1665833" y="254296"/>
                    <a:pt x="1664761" y="256884"/>
                    <a:pt x="1662853" y="258792"/>
                  </a:cubicBezTo>
                  <a:cubicBezTo>
                    <a:pt x="1660945" y="260700"/>
                    <a:pt x="1658357" y="261772"/>
                    <a:pt x="1655659" y="261772"/>
                  </a:cubicBezTo>
                  <a:lnTo>
                    <a:pt x="10174" y="261772"/>
                  </a:lnTo>
                  <a:cubicBezTo>
                    <a:pt x="7476" y="261772"/>
                    <a:pt x="4888" y="260700"/>
                    <a:pt x="2980" y="258792"/>
                  </a:cubicBezTo>
                  <a:cubicBezTo>
                    <a:pt x="1072" y="256884"/>
                    <a:pt x="0" y="254296"/>
                    <a:pt x="0" y="251598"/>
                  </a:cubicBezTo>
                  <a:lnTo>
                    <a:pt x="0" y="10174"/>
                  </a:lnTo>
                  <a:cubicBezTo>
                    <a:pt x="0" y="7476"/>
                    <a:pt x="1072" y="4888"/>
                    <a:pt x="2980" y="2980"/>
                  </a:cubicBezTo>
                  <a:cubicBezTo>
                    <a:pt x="4888" y="1072"/>
                    <a:pt x="7476" y="0"/>
                    <a:pt x="10174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65833" cy="299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  <a:r>
                <a:rPr lang="en-US" sz="1914" spc="9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OBJETIVOS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320739" y="1442172"/>
            <a:ext cx="7646523" cy="143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0"/>
              </a:lnSpc>
              <a:spcBef>
                <a:spcPct val="0"/>
              </a:spcBef>
            </a:pPr>
            <a:r>
              <a:rPr lang="en-US" sz="8393" spc="243" strike="noStrike" u="none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AGENDA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-1994461" y="924040"/>
            <a:ext cx="7315200" cy="1316736"/>
          </a:xfrm>
          <a:custGeom>
            <a:avLst/>
            <a:gdLst/>
            <a:ahLst/>
            <a:cxnLst/>
            <a:rect r="r" b="b" t="t" l="l"/>
            <a:pathLst>
              <a:path h="1316736" w="7315200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12967261" y="8599932"/>
            <a:ext cx="7315200" cy="1316736"/>
          </a:xfrm>
          <a:custGeom>
            <a:avLst/>
            <a:gdLst/>
            <a:ahLst/>
            <a:cxnLst/>
            <a:rect r="r" b="b" t="t" l="l"/>
            <a:pathLst>
              <a:path h="1316736" w="7315200">
                <a:moveTo>
                  <a:pt x="7315200" y="0"/>
                </a:moveTo>
                <a:lnTo>
                  <a:pt x="0" y="0"/>
                </a:lnTo>
                <a:lnTo>
                  <a:pt x="0" y="1316736"/>
                </a:lnTo>
                <a:lnTo>
                  <a:pt x="7315200" y="131673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979042" y="7762929"/>
            <a:ext cx="5326415" cy="837003"/>
            <a:chOff x="0" y="0"/>
            <a:chExt cx="1665833" cy="2617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65833" cy="261772"/>
            </a:xfrm>
            <a:custGeom>
              <a:avLst/>
              <a:gdLst/>
              <a:ahLst/>
              <a:cxnLst/>
              <a:rect r="r" b="b" t="t" l="l"/>
              <a:pathLst>
                <a:path h="261772" w="1665833">
                  <a:moveTo>
                    <a:pt x="10174" y="0"/>
                  </a:moveTo>
                  <a:lnTo>
                    <a:pt x="1655659" y="0"/>
                  </a:lnTo>
                  <a:cubicBezTo>
                    <a:pt x="1658357" y="0"/>
                    <a:pt x="1660945" y="1072"/>
                    <a:pt x="1662853" y="2980"/>
                  </a:cubicBezTo>
                  <a:cubicBezTo>
                    <a:pt x="1664761" y="4888"/>
                    <a:pt x="1665833" y="7476"/>
                    <a:pt x="1665833" y="10174"/>
                  </a:cubicBezTo>
                  <a:lnTo>
                    <a:pt x="1665833" y="251598"/>
                  </a:lnTo>
                  <a:cubicBezTo>
                    <a:pt x="1665833" y="254296"/>
                    <a:pt x="1664761" y="256884"/>
                    <a:pt x="1662853" y="258792"/>
                  </a:cubicBezTo>
                  <a:cubicBezTo>
                    <a:pt x="1660945" y="260700"/>
                    <a:pt x="1658357" y="261772"/>
                    <a:pt x="1655659" y="261772"/>
                  </a:cubicBezTo>
                  <a:lnTo>
                    <a:pt x="10174" y="261772"/>
                  </a:lnTo>
                  <a:cubicBezTo>
                    <a:pt x="7476" y="261772"/>
                    <a:pt x="4888" y="260700"/>
                    <a:pt x="2980" y="258792"/>
                  </a:cubicBezTo>
                  <a:cubicBezTo>
                    <a:pt x="1072" y="256884"/>
                    <a:pt x="0" y="254296"/>
                    <a:pt x="0" y="251598"/>
                  </a:cubicBezTo>
                  <a:lnTo>
                    <a:pt x="0" y="10174"/>
                  </a:lnTo>
                  <a:cubicBezTo>
                    <a:pt x="0" y="7476"/>
                    <a:pt x="1072" y="4888"/>
                    <a:pt x="2980" y="2980"/>
                  </a:cubicBezTo>
                  <a:cubicBezTo>
                    <a:pt x="4888" y="1072"/>
                    <a:pt x="7476" y="0"/>
                    <a:pt x="10174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665833" cy="299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  <a:r>
                <a:rPr lang="en-US" sz="1914" spc="9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METODOLOGÍA Y ROLES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982543" y="7762929"/>
            <a:ext cx="5326415" cy="837003"/>
            <a:chOff x="0" y="0"/>
            <a:chExt cx="1665833" cy="2617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65833" cy="261772"/>
            </a:xfrm>
            <a:custGeom>
              <a:avLst/>
              <a:gdLst/>
              <a:ahLst/>
              <a:cxnLst/>
              <a:rect r="r" b="b" t="t" l="l"/>
              <a:pathLst>
                <a:path h="261772" w="1665833">
                  <a:moveTo>
                    <a:pt x="10174" y="0"/>
                  </a:moveTo>
                  <a:lnTo>
                    <a:pt x="1655659" y="0"/>
                  </a:lnTo>
                  <a:cubicBezTo>
                    <a:pt x="1658357" y="0"/>
                    <a:pt x="1660945" y="1072"/>
                    <a:pt x="1662853" y="2980"/>
                  </a:cubicBezTo>
                  <a:cubicBezTo>
                    <a:pt x="1664761" y="4888"/>
                    <a:pt x="1665833" y="7476"/>
                    <a:pt x="1665833" y="10174"/>
                  </a:cubicBezTo>
                  <a:lnTo>
                    <a:pt x="1665833" y="251598"/>
                  </a:lnTo>
                  <a:cubicBezTo>
                    <a:pt x="1665833" y="254296"/>
                    <a:pt x="1664761" y="256884"/>
                    <a:pt x="1662853" y="258792"/>
                  </a:cubicBezTo>
                  <a:cubicBezTo>
                    <a:pt x="1660945" y="260700"/>
                    <a:pt x="1658357" y="261772"/>
                    <a:pt x="1655659" y="261772"/>
                  </a:cubicBezTo>
                  <a:lnTo>
                    <a:pt x="10174" y="261772"/>
                  </a:lnTo>
                  <a:cubicBezTo>
                    <a:pt x="7476" y="261772"/>
                    <a:pt x="4888" y="260700"/>
                    <a:pt x="2980" y="258792"/>
                  </a:cubicBezTo>
                  <a:cubicBezTo>
                    <a:pt x="1072" y="256884"/>
                    <a:pt x="0" y="254296"/>
                    <a:pt x="0" y="251598"/>
                  </a:cubicBezTo>
                  <a:lnTo>
                    <a:pt x="0" y="10174"/>
                  </a:lnTo>
                  <a:cubicBezTo>
                    <a:pt x="0" y="7476"/>
                    <a:pt x="1072" y="4888"/>
                    <a:pt x="2980" y="2980"/>
                  </a:cubicBezTo>
                  <a:cubicBezTo>
                    <a:pt x="4888" y="1072"/>
                    <a:pt x="7476" y="0"/>
                    <a:pt x="10174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65833" cy="2998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  <a:r>
                <a:rPr lang="en-US" sz="1914" spc="9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EVIDENCIAS Y CARTA GANTT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25000">
              <a:srgbClr val="000000">
                <a:alpha val="100000"/>
              </a:srgbClr>
            </a:gs>
            <a:gs pos="50000">
              <a:srgbClr val="000000">
                <a:alpha val="100000"/>
              </a:srgbClr>
            </a:gs>
            <a:gs pos="75000">
              <a:srgbClr val="091689">
                <a:alpha val="100000"/>
              </a:srgbClr>
            </a:gs>
            <a:gs pos="100000">
              <a:srgbClr val="3820AD">
                <a:alpha val="100000"/>
              </a:srgbClr>
            </a:gs>
          </a:gsLst>
          <a:lin ang="2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57671" y="1922186"/>
            <a:ext cx="7087160" cy="6945416"/>
          </a:xfrm>
          <a:custGeom>
            <a:avLst/>
            <a:gdLst/>
            <a:ahLst/>
            <a:cxnLst/>
            <a:rect r="r" b="b" t="t" l="l"/>
            <a:pathLst>
              <a:path h="6945416" w="7087160">
                <a:moveTo>
                  <a:pt x="0" y="0"/>
                </a:moveTo>
                <a:lnTo>
                  <a:pt x="7087160" y="0"/>
                </a:lnTo>
                <a:lnTo>
                  <a:pt x="7087160" y="6945416"/>
                </a:lnTo>
                <a:lnTo>
                  <a:pt x="0" y="6945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1124266" y="2982034"/>
            <a:ext cx="4765528" cy="4765509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992007" y="8710279"/>
            <a:ext cx="4600806" cy="920161"/>
          </a:xfrm>
          <a:custGeom>
            <a:avLst/>
            <a:gdLst/>
            <a:ahLst/>
            <a:cxnLst/>
            <a:rect r="r" b="b" t="t" l="l"/>
            <a:pathLst>
              <a:path h="920161" w="4600806">
                <a:moveTo>
                  <a:pt x="0" y="0"/>
                </a:moveTo>
                <a:lnTo>
                  <a:pt x="4600806" y="0"/>
                </a:lnTo>
                <a:lnTo>
                  <a:pt x="4600806" y="920162"/>
                </a:lnTo>
                <a:lnTo>
                  <a:pt x="0" y="92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01875" y="-160559"/>
            <a:ext cx="3857425" cy="778498"/>
          </a:xfrm>
          <a:custGeom>
            <a:avLst/>
            <a:gdLst/>
            <a:ahLst/>
            <a:cxnLst/>
            <a:rect r="r" b="b" t="t" l="l"/>
            <a:pathLst>
              <a:path h="778498" w="3857425">
                <a:moveTo>
                  <a:pt x="0" y="0"/>
                </a:moveTo>
                <a:lnTo>
                  <a:pt x="3857425" y="0"/>
                </a:lnTo>
                <a:lnTo>
                  <a:pt x="3857425" y="778499"/>
                </a:lnTo>
                <a:lnTo>
                  <a:pt x="0" y="7784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4313" y="1443375"/>
            <a:ext cx="8759421" cy="86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67"/>
              </a:lnSpc>
              <a:spcBef>
                <a:spcPct val="0"/>
              </a:spcBef>
            </a:pPr>
            <a:r>
              <a:rPr lang="en-US" sz="5048" spc="146" strike="noStrike" u="none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CONTEXTO Y PROBLEMÁTICA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9927" y="3145798"/>
            <a:ext cx="8588194" cy="439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6"/>
              </a:lnSpc>
              <a:spcBef>
                <a:spcPct val="0"/>
              </a:spcBef>
            </a:pPr>
            <a:r>
              <a:rPr lang="en-US" sz="2276" spc="38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 gimnasios gestionan sus procesos de forma manual o con herramientas dispersas, lo que dificulta el control de información, usuarios y operaciones.</a:t>
            </a:r>
          </a:p>
          <a:p>
            <a:pPr algn="l" marL="0" indent="0" lvl="0">
              <a:lnSpc>
                <a:spcPts val="3186"/>
              </a:lnSpc>
              <a:spcBef>
                <a:spcPct val="0"/>
              </a:spcBef>
            </a:pPr>
            <a:r>
              <a:rPr lang="en-US" sz="2276" spc="38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¿Cómo centralizar y optimizar la gestión de clientes, sucursales, planes, contratos, asistencias y comunicaciones mediante un sistema CRM?</a:t>
            </a:r>
          </a:p>
          <a:p>
            <a:pPr algn="l" marL="0" indent="0" lvl="0">
              <a:lnSpc>
                <a:spcPts val="3186"/>
              </a:lnSpc>
              <a:spcBef>
                <a:spcPct val="0"/>
              </a:spcBef>
            </a:pPr>
            <a:r>
              <a:rPr lang="en-US" sz="2276" spc="38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Usuarios del sistema: Administrador, correspondiente al dueño de Focus Power Fit, con acceso completo al CRM; y clientes, con acceso limitado a consultas y funcionalidades habilitadas. Los profesores no poseen una cuenta de usuario y sus datos son gestionados exclusivamente por el administrador.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91689">
                <a:alpha val="100000"/>
              </a:srgbClr>
            </a:gs>
            <a:gs pos="66667">
              <a:srgbClr val="3820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389" y="5571574"/>
            <a:ext cx="2791780" cy="2773239"/>
            <a:chOff x="0" y="0"/>
            <a:chExt cx="831192" cy="825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1192" cy="825672"/>
            </a:xfrm>
            <a:custGeom>
              <a:avLst/>
              <a:gdLst/>
              <a:ahLst/>
              <a:cxnLst/>
              <a:rect r="r" b="b" t="t" l="l"/>
              <a:pathLst>
                <a:path h="825672" w="831192">
                  <a:moveTo>
                    <a:pt x="19412" y="0"/>
                  </a:moveTo>
                  <a:lnTo>
                    <a:pt x="811780" y="0"/>
                  </a:lnTo>
                  <a:cubicBezTo>
                    <a:pt x="822501" y="0"/>
                    <a:pt x="831192" y="8691"/>
                    <a:pt x="831192" y="19412"/>
                  </a:cubicBezTo>
                  <a:lnTo>
                    <a:pt x="831192" y="806260"/>
                  </a:lnTo>
                  <a:cubicBezTo>
                    <a:pt x="831192" y="811408"/>
                    <a:pt x="829146" y="816346"/>
                    <a:pt x="825506" y="819986"/>
                  </a:cubicBezTo>
                  <a:cubicBezTo>
                    <a:pt x="821866" y="823626"/>
                    <a:pt x="816928" y="825672"/>
                    <a:pt x="811780" y="825672"/>
                  </a:cubicBezTo>
                  <a:lnTo>
                    <a:pt x="19412" y="825672"/>
                  </a:lnTo>
                  <a:cubicBezTo>
                    <a:pt x="14263" y="825672"/>
                    <a:pt x="9326" y="823626"/>
                    <a:pt x="5686" y="819986"/>
                  </a:cubicBezTo>
                  <a:cubicBezTo>
                    <a:pt x="2045" y="816346"/>
                    <a:pt x="0" y="811408"/>
                    <a:pt x="0" y="806260"/>
                  </a:cubicBezTo>
                  <a:lnTo>
                    <a:pt x="0" y="19412"/>
                  </a:lnTo>
                  <a:cubicBezTo>
                    <a:pt x="0" y="14263"/>
                    <a:pt x="2045" y="9326"/>
                    <a:pt x="5686" y="5686"/>
                  </a:cubicBezTo>
                  <a:cubicBezTo>
                    <a:pt x="9326" y="2045"/>
                    <a:pt x="14263" y="0"/>
                    <a:pt x="19412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31192" cy="854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Centralizar la gestión de clientes, sucursales, planes, contratos, asistencias y comunicaciones en un único sistema CRM.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87163" y="1416064"/>
            <a:ext cx="7485242" cy="207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DESCRIPCIÓN</a:t>
            </a:r>
          </a:p>
          <a:p>
            <a:pPr algn="l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DEL PROYECTO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498055" y="0"/>
            <a:ext cx="15051364" cy="10287000"/>
            <a:chOff x="0" y="0"/>
            <a:chExt cx="5508856" cy="37650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46" t="0" r="-346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3563936">
            <a:off x="12814580" y="8812199"/>
            <a:ext cx="6041090" cy="1661300"/>
          </a:xfrm>
          <a:custGeom>
            <a:avLst/>
            <a:gdLst/>
            <a:ahLst/>
            <a:cxnLst/>
            <a:rect r="r" b="b" t="t" l="l"/>
            <a:pathLst>
              <a:path h="1661300" w="6041090">
                <a:moveTo>
                  <a:pt x="0" y="0"/>
                </a:moveTo>
                <a:lnTo>
                  <a:pt x="6041090" y="0"/>
                </a:lnTo>
                <a:lnTo>
                  <a:pt x="6041090" y="1661300"/>
                </a:lnTo>
                <a:lnTo>
                  <a:pt x="0" y="1661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563936">
            <a:off x="8586602" y="-484684"/>
            <a:ext cx="5049584" cy="2811519"/>
          </a:xfrm>
          <a:custGeom>
            <a:avLst/>
            <a:gdLst/>
            <a:ahLst/>
            <a:cxnLst/>
            <a:rect r="r" b="b" t="t" l="l"/>
            <a:pathLst>
              <a:path h="2811519" w="5049584">
                <a:moveTo>
                  <a:pt x="0" y="0"/>
                </a:moveTo>
                <a:lnTo>
                  <a:pt x="5049584" y="0"/>
                </a:lnTo>
                <a:lnTo>
                  <a:pt x="5049584" y="2811519"/>
                </a:lnTo>
                <a:lnTo>
                  <a:pt x="0" y="28115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27131" y="3863232"/>
            <a:ext cx="912996" cy="101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958154" y="5571574"/>
            <a:ext cx="2791780" cy="2773239"/>
            <a:chOff x="0" y="0"/>
            <a:chExt cx="831192" cy="825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1192" cy="825672"/>
            </a:xfrm>
            <a:custGeom>
              <a:avLst/>
              <a:gdLst/>
              <a:ahLst/>
              <a:cxnLst/>
              <a:rect r="r" b="b" t="t" l="l"/>
              <a:pathLst>
                <a:path h="825672" w="831192">
                  <a:moveTo>
                    <a:pt x="19412" y="0"/>
                  </a:moveTo>
                  <a:lnTo>
                    <a:pt x="811780" y="0"/>
                  </a:lnTo>
                  <a:cubicBezTo>
                    <a:pt x="822501" y="0"/>
                    <a:pt x="831192" y="8691"/>
                    <a:pt x="831192" y="19412"/>
                  </a:cubicBezTo>
                  <a:lnTo>
                    <a:pt x="831192" y="806260"/>
                  </a:lnTo>
                  <a:cubicBezTo>
                    <a:pt x="831192" y="811408"/>
                    <a:pt x="829146" y="816346"/>
                    <a:pt x="825506" y="819986"/>
                  </a:cubicBezTo>
                  <a:cubicBezTo>
                    <a:pt x="821866" y="823626"/>
                    <a:pt x="816928" y="825672"/>
                    <a:pt x="811780" y="825672"/>
                  </a:cubicBezTo>
                  <a:lnTo>
                    <a:pt x="19412" y="825672"/>
                  </a:lnTo>
                  <a:cubicBezTo>
                    <a:pt x="14263" y="825672"/>
                    <a:pt x="9326" y="823626"/>
                    <a:pt x="5686" y="819986"/>
                  </a:cubicBezTo>
                  <a:cubicBezTo>
                    <a:pt x="2045" y="816346"/>
                    <a:pt x="0" y="811408"/>
                    <a:pt x="0" y="806260"/>
                  </a:cubicBezTo>
                  <a:lnTo>
                    <a:pt x="0" y="19412"/>
                  </a:lnTo>
                  <a:cubicBezTo>
                    <a:pt x="0" y="14263"/>
                    <a:pt x="2045" y="9326"/>
                    <a:pt x="5686" y="5686"/>
                  </a:cubicBezTo>
                  <a:cubicBezTo>
                    <a:pt x="9326" y="2045"/>
                    <a:pt x="14263" y="0"/>
                    <a:pt x="19412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31192" cy="854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Backend: Node.js, Express, Sequelize, SQL y Redis. Frontend: React con TypeScript, Next.js Pages Router, Bootstrap 5 y Axios. Infraestructura y documentación: Docker y Swagger.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780895" y="3863232"/>
            <a:ext cx="912996" cy="101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16659" y="5634479"/>
            <a:ext cx="3359407" cy="2773239"/>
            <a:chOff x="0" y="0"/>
            <a:chExt cx="1000190" cy="8256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0190" cy="825672"/>
            </a:xfrm>
            <a:custGeom>
              <a:avLst/>
              <a:gdLst/>
              <a:ahLst/>
              <a:cxnLst/>
              <a:rect r="r" b="b" t="t" l="l"/>
              <a:pathLst>
                <a:path h="825672" w="1000190">
                  <a:moveTo>
                    <a:pt x="16132" y="0"/>
                  </a:moveTo>
                  <a:lnTo>
                    <a:pt x="984058" y="0"/>
                  </a:lnTo>
                  <a:cubicBezTo>
                    <a:pt x="992968" y="0"/>
                    <a:pt x="1000190" y="7222"/>
                    <a:pt x="1000190" y="16132"/>
                  </a:cubicBezTo>
                  <a:lnTo>
                    <a:pt x="1000190" y="809540"/>
                  </a:lnTo>
                  <a:cubicBezTo>
                    <a:pt x="1000190" y="818449"/>
                    <a:pt x="992968" y="825672"/>
                    <a:pt x="984058" y="825672"/>
                  </a:cubicBezTo>
                  <a:lnTo>
                    <a:pt x="16132" y="825672"/>
                  </a:lnTo>
                  <a:cubicBezTo>
                    <a:pt x="7222" y="825672"/>
                    <a:pt x="0" y="818449"/>
                    <a:pt x="0" y="809540"/>
                  </a:cubicBezTo>
                  <a:lnTo>
                    <a:pt x="0" y="16132"/>
                  </a:lnTo>
                  <a:cubicBezTo>
                    <a:pt x="0" y="7222"/>
                    <a:pt x="7222" y="0"/>
                    <a:pt x="16132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00190" cy="854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PlaSistema CRM accesible desde una interfaz web responsive, destinado a gestionar clientes, sucursales, planes, asistencias, contratos, correos y consultas mediante un chatbot. Los pagos se registran administrativamente, sin procesar transacciones online.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055755" y="3863232"/>
            <a:ext cx="912996" cy="101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704389" y="4883023"/>
            <a:ext cx="2791780" cy="580007"/>
            <a:chOff x="0" y="0"/>
            <a:chExt cx="831192" cy="172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1192" cy="172684"/>
            </a:xfrm>
            <a:custGeom>
              <a:avLst/>
              <a:gdLst/>
              <a:ahLst/>
              <a:cxnLst/>
              <a:rect r="r" b="b" t="t" l="l"/>
              <a:pathLst>
                <a:path h="172684" w="831192">
                  <a:moveTo>
                    <a:pt x="19412" y="0"/>
                  </a:moveTo>
                  <a:lnTo>
                    <a:pt x="811780" y="0"/>
                  </a:lnTo>
                  <a:cubicBezTo>
                    <a:pt x="822501" y="0"/>
                    <a:pt x="831192" y="8691"/>
                    <a:pt x="831192" y="19412"/>
                  </a:cubicBezTo>
                  <a:lnTo>
                    <a:pt x="831192" y="153273"/>
                  </a:lnTo>
                  <a:cubicBezTo>
                    <a:pt x="831192" y="158421"/>
                    <a:pt x="829146" y="163358"/>
                    <a:pt x="825506" y="166999"/>
                  </a:cubicBezTo>
                  <a:cubicBezTo>
                    <a:pt x="821866" y="170639"/>
                    <a:pt x="816928" y="172684"/>
                    <a:pt x="811780" y="172684"/>
                  </a:cubicBezTo>
                  <a:lnTo>
                    <a:pt x="19412" y="172684"/>
                  </a:lnTo>
                  <a:cubicBezTo>
                    <a:pt x="14263" y="172684"/>
                    <a:pt x="9326" y="170639"/>
                    <a:pt x="5686" y="166999"/>
                  </a:cubicBezTo>
                  <a:cubicBezTo>
                    <a:pt x="2045" y="163358"/>
                    <a:pt x="0" y="158421"/>
                    <a:pt x="0" y="153273"/>
                  </a:cubicBezTo>
                  <a:lnTo>
                    <a:pt x="0" y="19412"/>
                  </a:lnTo>
                  <a:cubicBezTo>
                    <a:pt x="0" y="14263"/>
                    <a:pt x="2045" y="9326"/>
                    <a:pt x="5686" y="5686"/>
                  </a:cubicBezTo>
                  <a:cubicBezTo>
                    <a:pt x="9326" y="2045"/>
                    <a:pt x="14263" y="0"/>
                    <a:pt x="19412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31192" cy="201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PROPÓSITO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58154" y="4883023"/>
            <a:ext cx="2791780" cy="580007"/>
            <a:chOff x="0" y="0"/>
            <a:chExt cx="831192" cy="1726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1192" cy="172684"/>
            </a:xfrm>
            <a:custGeom>
              <a:avLst/>
              <a:gdLst/>
              <a:ahLst/>
              <a:cxnLst/>
              <a:rect r="r" b="b" t="t" l="l"/>
              <a:pathLst>
                <a:path h="172684" w="831192">
                  <a:moveTo>
                    <a:pt x="19412" y="0"/>
                  </a:moveTo>
                  <a:lnTo>
                    <a:pt x="811780" y="0"/>
                  </a:lnTo>
                  <a:cubicBezTo>
                    <a:pt x="822501" y="0"/>
                    <a:pt x="831192" y="8691"/>
                    <a:pt x="831192" y="19412"/>
                  </a:cubicBezTo>
                  <a:lnTo>
                    <a:pt x="831192" y="153273"/>
                  </a:lnTo>
                  <a:cubicBezTo>
                    <a:pt x="831192" y="158421"/>
                    <a:pt x="829146" y="163358"/>
                    <a:pt x="825506" y="166999"/>
                  </a:cubicBezTo>
                  <a:cubicBezTo>
                    <a:pt x="821866" y="170639"/>
                    <a:pt x="816928" y="172684"/>
                    <a:pt x="811780" y="172684"/>
                  </a:cubicBezTo>
                  <a:lnTo>
                    <a:pt x="19412" y="172684"/>
                  </a:lnTo>
                  <a:cubicBezTo>
                    <a:pt x="14263" y="172684"/>
                    <a:pt x="9326" y="170639"/>
                    <a:pt x="5686" y="166999"/>
                  </a:cubicBezTo>
                  <a:cubicBezTo>
                    <a:pt x="2045" y="163358"/>
                    <a:pt x="0" y="158421"/>
                    <a:pt x="0" y="153273"/>
                  </a:cubicBezTo>
                  <a:lnTo>
                    <a:pt x="0" y="19412"/>
                  </a:lnTo>
                  <a:cubicBezTo>
                    <a:pt x="0" y="14263"/>
                    <a:pt x="2045" y="9326"/>
                    <a:pt x="5686" y="5686"/>
                  </a:cubicBezTo>
                  <a:cubicBezTo>
                    <a:pt x="9326" y="2045"/>
                    <a:pt x="14263" y="0"/>
                    <a:pt x="19412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31192" cy="201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TECNOLOGÍAS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33013" y="4883023"/>
            <a:ext cx="3343052" cy="580007"/>
            <a:chOff x="0" y="0"/>
            <a:chExt cx="995321" cy="1726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5321" cy="172684"/>
            </a:xfrm>
            <a:custGeom>
              <a:avLst/>
              <a:gdLst/>
              <a:ahLst/>
              <a:cxnLst/>
              <a:rect r="r" b="b" t="t" l="l"/>
              <a:pathLst>
                <a:path h="172684" w="995321">
                  <a:moveTo>
                    <a:pt x="16211" y="0"/>
                  </a:moveTo>
                  <a:lnTo>
                    <a:pt x="979110" y="0"/>
                  </a:lnTo>
                  <a:cubicBezTo>
                    <a:pt x="988063" y="0"/>
                    <a:pt x="995321" y="7258"/>
                    <a:pt x="995321" y="16211"/>
                  </a:cubicBezTo>
                  <a:lnTo>
                    <a:pt x="995321" y="156474"/>
                  </a:lnTo>
                  <a:cubicBezTo>
                    <a:pt x="995321" y="160773"/>
                    <a:pt x="993613" y="164896"/>
                    <a:pt x="990573" y="167936"/>
                  </a:cubicBezTo>
                  <a:cubicBezTo>
                    <a:pt x="987533" y="170976"/>
                    <a:pt x="983409" y="172684"/>
                    <a:pt x="979110" y="172684"/>
                  </a:cubicBezTo>
                  <a:lnTo>
                    <a:pt x="16211" y="172684"/>
                  </a:lnTo>
                  <a:cubicBezTo>
                    <a:pt x="7258" y="172684"/>
                    <a:pt x="0" y="165427"/>
                    <a:pt x="0" y="156474"/>
                  </a:cubicBezTo>
                  <a:lnTo>
                    <a:pt x="0" y="16211"/>
                  </a:lnTo>
                  <a:cubicBezTo>
                    <a:pt x="0" y="7258"/>
                    <a:pt x="7258" y="0"/>
                    <a:pt x="16211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95321" cy="201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PLATAFORMA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689">
                <a:alpha val="100000"/>
              </a:srgbClr>
            </a:gs>
            <a:gs pos="50000">
              <a:srgbClr val="3820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70212" y="395723"/>
            <a:ext cx="5457332" cy="9397697"/>
          </a:xfrm>
          <a:custGeom>
            <a:avLst/>
            <a:gdLst/>
            <a:ahLst/>
            <a:cxnLst/>
            <a:rect r="r" b="b" t="t" l="l"/>
            <a:pathLst>
              <a:path h="9397697" w="5457332">
                <a:moveTo>
                  <a:pt x="0" y="0"/>
                </a:moveTo>
                <a:lnTo>
                  <a:pt x="5457332" y="0"/>
                </a:lnTo>
                <a:lnTo>
                  <a:pt x="5457332" y="9397697"/>
                </a:lnTo>
                <a:lnTo>
                  <a:pt x="0" y="9397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" t="0" r="-15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24251" y="6270527"/>
            <a:ext cx="2573824" cy="109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6"/>
              </a:lnSpc>
              <a:spcBef>
                <a:spcPct val="0"/>
              </a:spcBef>
            </a:pPr>
            <a:r>
              <a:rPr lang="en-US" sz="1597" spc="27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Centralizar la información y procesos del gimnasio en una única plataforma web accesible y eficiente.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0462" y="2957798"/>
            <a:ext cx="3361403" cy="3361403"/>
          </a:xfrm>
          <a:custGeom>
            <a:avLst/>
            <a:gdLst/>
            <a:ahLst/>
            <a:cxnLst/>
            <a:rect r="r" b="b" t="t" l="l"/>
            <a:pathLst>
              <a:path h="3361403" w="3361403">
                <a:moveTo>
                  <a:pt x="0" y="0"/>
                </a:moveTo>
                <a:lnTo>
                  <a:pt x="3361403" y="0"/>
                </a:lnTo>
                <a:lnTo>
                  <a:pt x="3361403" y="3361403"/>
                </a:lnTo>
                <a:lnTo>
                  <a:pt x="0" y="33614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71387" y="4055755"/>
            <a:ext cx="1088710" cy="1057604"/>
          </a:xfrm>
          <a:custGeom>
            <a:avLst/>
            <a:gdLst/>
            <a:ahLst/>
            <a:cxnLst/>
            <a:rect r="r" b="b" t="t" l="l"/>
            <a:pathLst>
              <a:path h="1057604" w="1088710">
                <a:moveTo>
                  <a:pt x="0" y="0"/>
                </a:moveTo>
                <a:lnTo>
                  <a:pt x="1088710" y="0"/>
                </a:lnTo>
                <a:lnTo>
                  <a:pt x="1088710" y="1057604"/>
                </a:lnTo>
                <a:lnTo>
                  <a:pt x="0" y="1057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86046" y="6270527"/>
            <a:ext cx="2571159" cy="137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6"/>
              </a:lnSpc>
              <a:spcBef>
                <a:spcPct val="0"/>
              </a:spcBef>
            </a:pPr>
            <a:r>
              <a:rPr lang="en-US" sz="1597" spc="2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Optimizar la gestión administrativa y operativa, reduciendo tiempos y mejorando la toma de decisiones.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110940" y="2957798"/>
            <a:ext cx="3361403" cy="3361403"/>
          </a:xfrm>
          <a:custGeom>
            <a:avLst/>
            <a:gdLst/>
            <a:ahLst/>
            <a:cxnLst/>
            <a:rect r="r" b="b" t="t" l="l"/>
            <a:pathLst>
              <a:path h="3361403" w="3361403">
                <a:moveTo>
                  <a:pt x="0" y="0"/>
                </a:moveTo>
                <a:lnTo>
                  <a:pt x="3361404" y="0"/>
                </a:lnTo>
                <a:lnTo>
                  <a:pt x="3361404" y="3361403"/>
                </a:lnTo>
                <a:lnTo>
                  <a:pt x="0" y="33614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36878" y="4083972"/>
            <a:ext cx="1119977" cy="1115311"/>
          </a:xfrm>
          <a:custGeom>
            <a:avLst/>
            <a:gdLst/>
            <a:ahLst/>
            <a:cxnLst/>
            <a:rect r="r" b="b" t="t" l="l"/>
            <a:pathLst>
              <a:path h="1115311" w="1119977">
                <a:moveTo>
                  <a:pt x="0" y="0"/>
                </a:moveTo>
                <a:lnTo>
                  <a:pt x="1119977" y="0"/>
                </a:lnTo>
                <a:lnTo>
                  <a:pt x="1119977" y="1115311"/>
                </a:lnTo>
                <a:lnTo>
                  <a:pt x="0" y="11153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536582" y="9045175"/>
            <a:ext cx="9448291" cy="2483650"/>
          </a:xfrm>
          <a:custGeom>
            <a:avLst/>
            <a:gdLst/>
            <a:ahLst/>
            <a:cxnLst/>
            <a:rect r="r" b="b" t="t" l="l"/>
            <a:pathLst>
              <a:path h="2483650" w="9448291">
                <a:moveTo>
                  <a:pt x="0" y="0"/>
                </a:moveTo>
                <a:lnTo>
                  <a:pt x="9448291" y="0"/>
                </a:lnTo>
                <a:lnTo>
                  <a:pt x="9448291" y="2483650"/>
                </a:lnTo>
                <a:lnTo>
                  <a:pt x="0" y="24836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2949041" y="395723"/>
            <a:ext cx="5045021" cy="3953462"/>
          </a:xfrm>
          <a:custGeom>
            <a:avLst/>
            <a:gdLst/>
            <a:ahLst/>
            <a:cxnLst/>
            <a:rect r="r" b="b" t="t" l="l"/>
            <a:pathLst>
              <a:path h="3953462" w="5045021">
                <a:moveTo>
                  <a:pt x="5045022" y="0"/>
                </a:moveTo>
                <a:lnTo>
                  <a:pt x="0" y="0"/>
                </a:lnTo>
                <a:lnTo>
                  <a:pt x="0" y="3953462"/>
                </a:lnTo>
                <a:lnTo>
                  <a:pt x="5045022" y="3953462"/>
                </a:lnTo>
                <a:lnTo>
                  <a:pt x="5045022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2270212" y="5839957"/>
            <a:ext cx="5045021" cy="3953462"/>
          </a:xfrm>
          <a:custGeom>
            <a:avLst/>
            <a:gdLst/>
            <a:ahLst/>
            <a:cxnLst/>
            <a:rect r="r" b="b" t="t" l="l"/>
            <a:pathLst>
              <a:path h="3953462" w="5045021">
                <a:moveTo>
                  <a:pt x="0" y="3953463"/>
                </a:moveTo>
                <a:lnTo>
                  <a:pt x="5045022" y="3953463"/>
                </a:lnTo>
                <a:lnTo>
                  <a:pt x="5045022" y="0"/>
                </a:lnTo>
                <a:lnTo>
                  <a:pt x="0" y="0"/>
                </a:lnTo>
                <a:lnTo>
                  <a:pt x="0" y="3953463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65850" y="6270527"/>
            <a:ext cx="2571159" cy="164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6"/>
              </a:lnSpc>
              <a:spcBef>
                <a:spcPct val="0"/>
              </a:spcBef>
            </a:pPr>
            <a:r>
              <a:rPr lang="en-US" sz="1597" spc="2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Facilitar la administración de clientes y servicios del gimnasio mediante un sistema CRM moderno, gestionado exclusivamente por el dueño.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90745" y="2957798"/>
            <a:ext cx="3361403" cy="3361403"/>
          </a:xfrm>
          <a:custGeom>
            <a:avLst/>
            <a:gdLst/>
            <a:ahLst/>
            <a:cxnLst/>
            <a:rect r="r" b="b" t="t" l="l"/>
            <a:pathLst>
              <a:path h="3361403" w="3361403">
                <a:moveTo>
                  <a:pt x="0" y="0"/>
                </a:moveTo>
                <a:lnTo>
                  <a:pt x="3361403" y="0"/>
                </a:lnTo>
                <a:lnTo>
                  <a:pt x="3361403" y="3361403"/>
                </a:lnTo>
                <a:lnTo>
                  <a:pt x="0" y="33614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807965" y="3954668"/>
            <a:ext cx="1111050" cy="1169335"/>
          </a:xfrm>
          <a:custGeom>
            <a:avLst/>
            <a:gdLst/>
            <a:ahLst/>
            <a:cxnLst/>
            <a:rect r="r" b="b" t="t" l="l"/>
            <a:pathLst>
              <a:path h="1169335" w="1111050">
                <a:moveTo>
                  <a:pt x="0" y="0"/>
                </a:moveTo>
                <a:lnTo>
                  <a:pt x="1111050" y="0"/>
                </a:lnTo>
                <a:lnTo>
                  <a:pt x="1111050" y="1169335"/>
                </a:lnTo>
                <a:lnTo>
                  <a:pt x="0" y="11693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12026" y="-107671"/>
            <a:ext cx="7315200" cy="505414"/>
          </a:xfrm>
          <a:custGeom>
            <a:avLst/>
            <a:gdLst/>
            <a:ahLst/>
            <a:cxnLst/>
            <a:rect r="r" b="b" t="t" l="l"/>
            <a:pathLst>
              <a:path h="505414" w="7315200">
                <a:moveTo>
                  <a:pt x="0" y="0"/>
                </a:moveTo>
                <a:lnTo>
                  <a:pt x="7315200" y="0"/>
                </a:lnTo>
                <a:lnTo>
                  <a:pt x="7315200" y="505414"/>
                </a:lnTo>
                <a:lnTo>
                  <a:pt x="0" y="505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351791" y="1345485"/>
            <a:ext cx="4879027" cy="70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64"/>
              </a:lnSpc>
              <a:spcBef>
                <a:spcPct val="0"/>
              </a:spcBef>
            </a:pPr>
            <a:r>
              <a:rPr lang="en-US" sz="4188" spc="121" strike="noStrike" u="none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OBJETIVO GENERAL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80486" y="5712664"/>
            <a:ext cx="2668280" cy="41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2"/>
              </a:lnSpc>
              <a:spcBef>
                <a:spcPct val="0"/>
              </a:spcBef>
            </a:pPr>
            <a:r>
              <a:rPr lang="en-US" b="true" sz="2451" spc="41" strike="noStrike" u="non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Centralizar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60965" y="5712664"/>
            <a:ext cx="2668280" cy="41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2"/>
              </a:lnSpc>
              <a:spcBef>
                <a:spcPct val="0"/>
              </a:spcBef>
            </a:pPr>
            <a:r>
              <a:rPr lang="en-US" b="true" sz="2451" spc="4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Optimizar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40769" y="5712664"/>
            <a:ext cx="2668280" cy="41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2"/>
              </a:lnSpc>
              <a:spcBef>
                <a:spcPct val="0"/>
              </a:spcBef>
            </a:pPr>
            <a:r>
              <a:rPr lang="en-US" b="true" sz="2451" spc="4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Administrar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050E5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9566" y="3094134"/>
            <a:ext cx="5285981" cy="5445602"/>
            <a:chOff x="0" y="0"/>
            <a:chExt cx="1448601" cy="1492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8601" cy="1492345"/>
            </a:xfrm>
            <a:custGeom>
              <a:avLst/>
              <a:gdLst/>
              <a:ahLst/>
              <a:cxnLst/>
              <a:rect r="r" b="b" t="t" l="l"/>
              <a:pathLst>
                <a:path h="1492345" w="1448601">
                  <a:moveTo>
                    <a:pt x="16111" y="0"/>
                  </a:moveTo>
                  <a:lnTo>
                    <a:pt x="1432491" y="0"/>
                  </a:lnTo>
                  <a:cubicBezTo>
                    <a:pt x="1441388" y="0"/>
                    <a:pt x="1448601" y="7213"/>
                    <a:pt x="1448601" y="16111"/>
                  </a:cubicBezTo>
                  <a:lnTo>
                    <a:pt x="1448601" y="1476234"/>
                  </a:lnTo>
                  <a:cubicBezTo>
                    <a:pt x="1448601" y="1485132"/>
                    <a:pt x="1441388" y="1492345"/>
                    <a:pt x="1432491" y="1492345"/>
                  </a:cubicBezTo>
                  <a:lnTo>
                    <a:pt x="16111" y="1492345"/>
                  </a:lnTo>
                  <a:cubicBezTo>
                    <a:pt x="7213" y="1492345"/>
                    <a:pt x="0" y="1485132"/>
                    <a:pt x="0" y="1476234"/>
                  </a:cubicBezTo>
                  <a:lnTo>
                    <a:pt x="0" y="16111"/>
                  </a:lnTo>
                  <a:cubicBezTo>
                    <a:pt x="0" y="7213"/>
                    <a:pt x="7213" y="0"/>
                    <a:pt x="16111" y="0"/>
                  </a:cubicBezTo>
                  <a:close/>
                </a:path>
              </a:pathLst>
            </a:custGeom>
            <a:solidFill>
              <a:srgbClr val="000000">
                <a:alpha val="4470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448601" cy="159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0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5923" y="4083602"/>
            <a:ext cx="4719688" cy="2474673"/>
          </a:xfrm>
          <a:custGeom>
            <a:avLst/>
            <a:gdLst/>
            <a:ahLst/>
            <a:cxnLst/>
            <a:rect r="r" b="b" t="t" l="l"/>
            <a:pathLst>
              <a:path h="2474673" w="4719688">
                <a:moveTo>
                  <a:pt x="0" y="0"/>
                </a:moveTo>
                <a:lnTo>
                  <a:pt x="4719688" y="0"/>
                </a:lnTo>
                <a:lnTo>
                  <a:pt x="4719688" y="2474673"/>
                </a:lnTo>
                <a:lnTo>
                  <a:pt x="0" y="2474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2" r="0" b="-30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18022" y="1771269"/>
            <a:ext cx="13650252" cy="101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OBJETIVOS ESPECÍFICOS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0930" y="6570187"/>
            <a:ext cx="4596778" cy="165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0063" indent="-170032" lvl="1">
              <a:lnSpc>
                <a:spcPts val="2205"/>
              </a:lnSpc>
              <a:buAutoNum type="arabicPeriod" startAt="1"/>
            </a:pPr>
            <a:r>
              <a:rPr lang="en-US" sz="1575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Implementar la gestión de clientes, usuarios, planes, profesores, sucursales, horarios y asistencias.</a:t>
            </a:r>
          </a:p>
          <a:p>
            <a:pPr algn="ctr" marL="340063" indent="-170032" lvl="1">
              <a:lnSpc>
                <a:spcPts val="2205"/>
              </a:lnSpc>
              <a:spcBef>
                <a:spcPct val="0"/>
              </a:spcBef>
              <a:buAutoNum type="arabicPeriod" startAt="1"/>
            </a:pPr>
            <a:r>
              <a:rPr lang="en-US" sz="1575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Digitalizar la administración de contratos y aplicar las reglas de cancelación, recuperación y congelamiento de sesiones.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00158" y="3094134"/>
            <a:ext cx="5285981" cy="5445602"/>
            <a:chOff x="0" y="0"/>
            <a:chExt cx="1448601" cy="14923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8601" cy="1492345"/>
            </a:xfrm>
            <a:custGeom>
              <a:avLst/>
              <a:gdLst/>
              <a:ahLst/>
              <a:cxnLst/>
              <a:rect r="r" b="b" t="t" l="l"/>
              <a:pathLst>
                <a:path h="1492345" w="1448601">
                  <a:moveTo>
                    <a:pt x="16111" y="0"/>
                  </a:moveTo>
                  <a:lnTo>
                    <a:pt x="1432491" y="0"/>
                  </a:lnTo>
                  <a:cubicBezTo>
                    <a:pt x="1441388" y="0"/>
                    <a:pt x="1448601" y="7213"/>
                    <a:pt x="1448601" y="16111"/>
                  </a:cubicBezTo>
                  <a:lnTo>
                    <a:pt x="1448601" y="1476234"/>
                  </a:lnTo>
                  <a:cubicBezTo>
                    <a:pt x="1448601" y="1485132"/>
                    <a:pt x="1441388" y="1492345"/>
                    <a:pt x="1432491" y="1492345"/>
                  </a:cubicBezTo>
                  <a:lnTo>
                    <a:pt x="16111" y="1492345"/>
                  </a:lnTo>
                  <a:cubicBezTo>
                    <a:pt x="7213" y="1492345"/>
                    <a:pt x="0" y="1485132"/>
                    <a:pt x="0" y="1476234"/>
                  </a:cubicBezTo>
                  <a:lnTo>
                    <a:pt x="0" y="16111"/>
                  </a:lnTo>
                  <a:cubicBezTo>
                    <a:pt x="0" y="7213"/>
                    <a:pt x="7213" y="0"/>
                    <a:pt x="16111" y="0"/>
                  </a:cubicBezTo>
                  <a:close/>
                </a:path>
              </a:pathLst>
            </a:custGeom>
            <a:solidFill>
              <a:srgbClr val="000000">
                <a:alpha val="4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448601" cy="159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0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36514" y="4083602"/>
            <a:ext cx="4719688" cy="2474673"/>
          </a:xfrm>
          <a:custGeom>
            <a:avLst/>
            <a:gdLst/>
            <a:ahLst/>
            <a:cxnLst/>
            <a:rect r="r" b="b" t="t" l="l"/>
            <a:pathLst>
              <a:path h="2474673" w="4719688">
                <a:moveTo>
                  <a:pt x="0" y="0"/>
                </a:moveTo>
                <a:lnTo>
                  <a:pt x="4719688" y="0"/>
                </a:lnTo>
                <a:lnTo>
                  <a:pt x="4719688" y="2474673"/>
                </a:lnTo>
                <a:lnTo>
                  <a:pt x="0" y="2474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2" r="0" b="-30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97969" y="6844810"/>
            <a:ext cx="4596778" cy="165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0063" indent="-170032" lvl="1">
              <a:lnSpc>
                <a:spcPts val="2205"/>
              </a:lnSpc>
              <a:buAutoNum type="arabicPeriod" startAt="1"/>
            </a:pPr>
            <a:r>
              <a:rPr lang="en-US" sz="1575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Implementar autenticación y autorización mediante roles.</a:t>
            </a:r>
          </a:p>
          <a:p>
            <a:pPr algn="ctr" marL="340063" indent="-170032" lvl="1">
              <a:lnSpc>
                <a:spcPts val="2205"/>
              </a:lnSpc>
              <a:buAutoNum type="arabicPeriod" startAt="1"/>
            </a:pPr>
            <a:r>
              <a:rPr lang="en-US" sz="1575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Incorporar recordatorios por correo y un chatbot para preguntas frecuentes y orientación de clientes.</a:t>
            </a:r>
          </a:p>
          <a:p>
            <a:pPr algn="ctr">
              <a:lnSpc>
                <a:spcPts val="2205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2042453" y="3094134"/>
            <a:ext cx="5285981" cy="5445602"/>
            <a:chOff x="0" y="0"/>
            <a:chExt cx="1448601" cy="14923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8601" cy="1492345"/>
            </a:xfrm>
            <a:custGeom>
              <a:avLst/>
              <a:gdLst/>
              <a:ahLst/>
              <a:cxnLst/>
              <a:rect r="r" b="b" t="t" l="l"/>
              <a:pathLst>
                <a:path h="1492345" w="1448601">
                  <a:moveTo>
                    <a:pt x="16111" y="0"/>
                  </a:moveTo>
                  <a:lnTo>
                    <a:pt x="1432491" y="0"/>
                  </a:lnTo>
                  <a:cubicBezTo>
                    <a:pt x="1441388" y="0"/>
                    <a:pt x="1448601" y="7213"/>
                    <a:pt x="1448601" y="16111"/>
                  </a:cubicBezTo>
                  <a:lnTo>
                    <a:pt x="1448601" y="1476234"/>
                  </a:lnTo>
                  <a:cubicBezTo>
                    <a:pt x="1448601" y="1485132"/>
                    <a:pt x="1441388" y="1492345"/>
                    <a:pt x="1432491" y="1492345"/>
                  </a:cubicBezTo>
                  <a:lnTo>
                    <a:pt x="16111" y="1492345"/>
                  </a:lnTo>
                  <a:cubicBezTo>
                    <a:pt x="7213" y="1492345"/>
                    <a:pt x="0" y="1485132"/>
                    <a:pt x="0" y="1476234"/>
                  </a:cubicBezTo>
                  <a:lnTo>
                    <a:pt x="0" y="16111"/>
                  </a:lnTo>
                  <a:cubicBezTo>
                    <a:pt x="0" y="7213"/>
                    <a:pt x="7213" y="0"/>
                    <a:pt x="16111" y="0"/>
                  </a:cubicBezTo>
                  <a:close/>
                </a:path>
              </a:pathLst>
            </a:custGeom>
            <a:solidFill>
              <a:srgbClr val="000000">
                <a:alpha val="4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1448601" cy="159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06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378810" y="4083602"/>
            <a:ext cx="4719688" cy="2474673"/>
          </a:xfrm>
          <a:custGeom>
            <a:avLst/>
            <a:gdLst/>
            <a:ahLst/>
            <a:cxnLst/>
            <a:rect r="r" b="b" t="t" l="l"/>
            <a:pathLst>
              <a:path h="2474673" w="4719688">
                <a:moveTo>
                  <a:pt x="0" y="0"/>
                </a:moveTo>
                <a:lnTo>
                  <a:pt x="4719687" y="0"/>
                </a:lnTo>
                <a:lnTo>
                  <a:pt x="4719687" y="2474673"/>
                </a:lnTo>
                <a:lnTo>
                  <a:pt x="0" y="24746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2" r="0" b="-30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40264" y="6844810"/>
            <a:ext cx="4596778" cy="110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0063" indent="-170032" lvl="1">
              <a:lnSpc>
                <a:spcPts val="2205"/>
              </a:lnSpc>
              <a:spcBef>
                <a:spcPct val="0"/>
              </a:spcBef>
              <a:buAutoNum type="arabicPeriod" startAt="1"/>
            </a:pPr>
            <a:r>
              <a:rPr lang="en-US" sz="1575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Realizar pruebas funcionales para detectar errores y oportunidades de mejora.</a:t>
            </a:r>
          </a:p>
          <a:p>
            <a:pPr algn="ctr" marL="340063" indent="-170032" lvl="1">
              <a:lnSpc>
                <a:spcPts val="2205"/>
              </a:lnSpc>
              <a:spcBef>
                <a:spcPct val="0"/>
              </a:spcBef>
              <a:buAutoNum type="arabicPeriod" startAt="1"/>
            </a:pPr>
            <a:r>
              <a:rPr lang="en-US" sz="1575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Documentar el proceso de desarrollo y los resultados obtenidos.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91053" y="3267770"/>
            <a:ext cx="2823007" cy="33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9"/>
              </a:lnSpc>
              <a:spcBef>
                <a:spcPct val="0"/>
              </a:spcBef>
            </a:pPr>
            <a:r>
              <a:rPr lang="en-US" b="true" sz="1870" spc="3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Requerimientos y Diseño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31645" y="3267770"/>
            <a:ext cx="2823007" cy="33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9"/>
              </a:lnSpc>
              <a:spcBef>
                <a:spcPct val="0"/>
              </a:spcBef>
            </a:pPr>
            <a:r>
              <a:rPr lang="en-US" b="true" sz="1870" spc="3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Implementación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80880" y="3267770"/>
            <a:ext cx="3409127" cy="33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9"/>
              </a:lnSpc>
              <a:spcBef>
                <a:spcPct val="0"/>
              </a:spcBef>
            </a:pPr>
            <a:r>
              <a:rPr lang="en-US" b="true" sz="1870" spc="3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Pruebas y Documentación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91689">
                <a:alpha val="100000"/>
              </a:srgbClr>
            </a:gs>
            <a:gs pos="66667">
              <a:srgbClr val="3820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389" y="5571574"/>
            <a:ext cx="2791780" cy="2773239"/>
            <a:chOff x="0" y="0"/>
            <a:chExt cx="831192" cy="825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1192" cy="825672"/>
            </a:xfrm>
            <a:custGeom>
              <a:avLst/>
              <a:gdLst/>
              <a:ahLst/>
              <a:cxnLst/>
              <a:rect r="r" b="b" t="t" l="l"/>
              <a:pathLst>
                <a:path h="825672" w="831192">
                  <a:moveTo>
                    <a:pt x="19412" y="0"/>
                  </a:moveTo>
                  <a:lnTo>
                    <a:pt x="811780" y="0"/>
                  </a:lnTo>
                  <a:cubicBezTo>
                    <a:pt x="822501" y="0"/>
                    <a:pt x="831192" y="8691"/>
                    <a:pt x="831192" y="19412"/>
                  </a:cubicBezTo>
                  <a:lnTo>
                    <a:pt x="831192" y="806260"/>
                  </a:lnTo>
                  <a:cubicBezTo>
                    <a:pt x="831192" y="811408"/>
                    <a:pt x="829146" y="816346"/>
                    <a:pt x="825506" y="819986"/>
                  </a:cubicBezTo>
                  <a:cubicBezTo>
                    <a:pt x="821866" y="823626"/>
                    <a:pt x="816928" y="825672"/>
                    <a:pt x="811780" y="825672"/>
                  </a:cubicBezTo>
                  <a:lnTo>
                    <a:pt x="19412" y="825672"/>
                  </a:lnTo>
                  <a:cubicBezTo>
                    <a:pt x="14263" y="825672"/>
                    <a:pt x="9326" y="823626"/>
                    <a:pt x="5686" y="819986"/>
                  </a:cubicBezTo>
                  <a:cubicBezTo>
                    <a:pt x="2045" y="816346"/>
                    <a:pt x="0" y="811408"/>
                    <a:pt x="0" y="806260"/>
                  </a:cubicBezTo>
                  <a:lnTo>
                    <a:pt x="0" y="19412"/>
                  </a:lnTo>
                  <a:cubicBezTo>
                    <a:pt x="0" y="14263"/>
                    <a:pt x="2045" y="9326"/>
                    <a:pt x="5686" y="5686"/>
                  </a:cubicBezTo>
                  <a:cubicBezTo>
                    <a:pt x="9326" y="2045"/>
                    <a:pt x="14263" y="0"/>
                    <a:pt x="19412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31192" cy="854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Levantamiento y análisis de requerimientos funcionales y no funcionales del CRM Focus Power Fit.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87163" y="1416064"/>
            <a:ext cx="7485242" cy="207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VÍNCULO CON EL</a:t>
            </a:r>
          </a:p>
          <a:p>
            <a:pPr algn="l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PERFIL DE EGRESO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498055" y="0"/>
            <a:ext cx="15051364" cy="10287000"/>
            <a:chOff x="0" y="0"/>
            <a:chExt cx="5508856" cy="37650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46" t="0" r="-346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true" flipV="false" rot="3563936">
            <a:off x="13368486" y="9179128"/>
            <a:ext cx="4932097" cy="887777"/>
          </a:xfrm>
          <a:custGeom>
            <a:avLst/>
            <a:gdLst/>
            <a:ahLst/>
            <a:cxnLst/>
            <a:rect r="r" b="b" t="t" l="l"/>
            <a:pathLst>
              <a:path h="887777" w="4932097">
                <a:moveTo>
                  <a:pt x="4932098" y="0"/>
                </a:moveTo>
                <a:lnTo>
                  <a:pt x="0" y="0"/>
                </a:lnTo>
                <a:lnTo>
                  <a:pt x="0" y="887778"/>
                </a:lnTo>
                <a:lnTo>
                  <a:pt x="4932098" y="887778"/>
                </a:lnTo>
                <a:lnTo>
                  <a:pt x="493209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3563936">
            <a:off x="8558745" y="208598"/>
            <a:ext cx="4932097" cy="887777"/>
          </a:xfrm>
          <a:custGeom>
            <a:avLst/>
            <a:gdLst/>
            <a:ahLst/>
            <a:cxnLst/>
            <a:rect r="r" b="b" t="t" l="l"/>
            <a:pathLst>
              <a:path h="887777" w="4932097">
                <a:moveTo>
                  <a:pt x="0" y="887778"/>
                </a:moveTo>
                <a:lnTo>
                  <a:pt x="4932097" y="887778"/>
                </a:lnTo>
                <a:lnTo>
                  <a:pt x="4932097" y="0"/>
                </a:lnTo>
                <a:lnTo>
                  <a:pt x="0" y="0"/>
                </a:lnTo>
                <a:lnTo>
                  <a:pt x="0" y="88777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27131" y="3863232"/>
            <a:ext cx="912996" cy="101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958154" y="5571574"/>
            <a:ext cx="2791780" cy="2773239"/>
            <a:chOff x="0" y="0"/>
            <a:chExt cx="831192" cy="825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1192" cy="825672"/>
            </a:xfrm>
            <a:custGeom>
              <a:avLst/>
              <a:gdLst/>
              <a:ahLst/>
              <a:cxnLst/>
              <a:rect r="r" b="b" t="t" l="l"/>
              <a:pathLst>
                <a:path h="825672" w="831192">
                  <a:moveTo>
                    <a:pt x="19412" y="0"/>
                  </a:moveTo>
                  <a:lnTo>
                    <a:pt x="811780" y="0"/>
                  </a:lnTo>
                  <a:cubicBezTo>
                    <a:pt x="822501" y="0"/>
                    <a:pt x="831192" y="8691"/>
                    <a:pt x="831192" y="19412"/>
                  </a:cubicBezTo>
                  <a:lnTo>
                    <a:pt x="831192" y="806260"/>
                  </a:lnTo>
                  <a:cubicBezTo>
                    <a:pt x="831192" y="811408"/>
                    <a:pt x="829146" y="816346"/>
                    <a:pt x="825506" y="819986"/>
                  </a:cubicBezTo>
                  <a:cubicBezTo>
                    <a:pt x="821866" y="823626"/>
                    <a:pt x="816928" y="825672"/>
                    <a:pt x="811780" y="825672"/>
                  </a:cubicBezTo>
                  <a:lnTo>
                    <a:pt x="19412" y="825672"/>
                  </a:lnTo>
                  <a:cubicBezTo>
                    <a:pt x="14263" y="825672"/>
                    <a:pt x="9326" y="823626"/>
                    <a:pt x="5686" y="819986"/>
                  </a:cubicBezTo>
                  <a:cubicBezTo>
                    <a:pt x="2045" y="816346"/>
                    <a:pt x="0" y="811408"/>
                    <a:pt x="0" y="806260"/>
                  </a:cubicBezTo>
                  <a:lnTo>
                    <a:pt x="0" y="19412"/>
                  </a:lnTo>
                  <a:cubicBezTo>
                    <a:pt x="0" y="14263"/>
                    <a:pt x="2045" y="9326"/>
                    <a:pt x="5686" y="5686"/>
                  </a:cubicBezTo>
                  <a:cubicBezTo>
                    <a:pt x="9326" y="2045"/>
                    <a:pt x="14263" y="0"/>
                    <a:pt x="19412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31192" cy="854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Implementación de un sistema CRM utilizando Node.js, Express, Sequelize, SQL, Redis, React, TypeScript, Bootstrap 5 y Docker.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780895" y="3863232"/>
            <a:ext cx="912996" cy="101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33013" y="5571574"/>
            <a:ext cx="2791780" cy="2773239"/>
            <a:chOff x="0" y="0"/>
            <a:chExt cx="831192" cy="8256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1192" cy="825672"/>
            </a:xfrm>
            <a:custGeom>
              <a:avLst/>
              <a:gdLst/>
              <a:ahLst/>
              <a:cxnLst/>
              <a:rect r="r" b="b" t="t" l="l"/>
              <a:pathLst>
                <a:path h="825672" w="831192">
                  <a:moveTo>
                    <a:pt x="19412" y="0"/>
                  </a:moveTo>
                  <a:lnTo>
                    <a:pt x="811780" y="0"/>
                  </a:lnTo>
                  <a:cubicBezTo>
                    <a:pt x="822501" y="0"/>
                    <a:pt x="831192" y="8691"/>
                    <a:pt x="831192" y="19412"/>
                  </a:cubicBezTo>
                  <a:lnTo>
                    <a:pt x="831192" y="806260"/>
                  </a:lnTo>
                  <a:cubicBezTo>
                    <a:pt x="831192" y="811408"/>
                    <a:pt x="829146" y="816346"/>
                    <a:pt x="825506" y="819986"/>
                  </a:cubicBezTo>
                  <a:cubicBezTo>
                    <a:pt x="821866" y="823626"/>
                    <a:pt x="816928" y="825672"/>
                    <a:pt x="811780" y="825672"/>
                  </a:cubicBezTo>
                  <a:lnTo>
                    <a:pt x="19412" y="825672"/>
                  </a:lnTo>
                  <a:cubicBezTo>
                    <a:pt x="14263" y="825672"/>
                    <a:pt x="9326" y="823626"/>
                    <a:pt x="5686" y="819986"/>
                  </a:cubicBezTo>
                  <a:cubicBezTo>
                    <a:pt x="2045" y="816346"/>
                    <a:pt x="0" y="811408"/>
                    <a:pt x="0" y="806260"/>
                  </a:cubicBezTo>
                  <a:lnTo>
                    <a:pt x="0" y="19412"/>
                  </a:lnTo>
                  <a:cubicBezTo>
                    <a:pt x="0" y="14263"/>
                    <a:pt x="2045" y="9326"/>
                    <a:pt x="5686" y="5686"/>
                  </a:cubicBezTo>
                  <a:cubicBezTo>
                    <a:pt x="9326" y="2045"/>
                    <a:pt x="14263" y="0"/>
                    <a:pt x="19412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831192" cy="854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Pruebas funcionales para detectar errores, validar usabilidad y asegurar calidad del software.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055755" y="3863232"/>
            <a:ext cx="912996" cy="101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704389" y="4883023"/>
            <a:ext cx="2791780" cy="580007"/>
            <a:chOff x="0" y="0"/>
            <a:chExt cx="831192" cy="172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1192" cy="172684"/>
            </a:xfrm>
            <a:custGeom>
              <a:avLst/>
              <a:gdLst/>
              <a:ahLst/>
              <a:cxnLst/>
              <a:rect r="r" b="b" t="t" l="l"/>
              <a:pathLst>
                <a:path h="172684" w="831192">
                  <a:moveTo>
                    <a:pt x="19412" y="0"/>
                  </a:moveTo>
                  <a:lnTo>
                    <a:pt x="811780" y="0"/>
                  </a:lnTo>
                  <a:cubicBezTo>
                    <a:pt x="822501" y="0"/>
                    <a:pt x="831192" y="8691"/>
                    <a:pt x="831192" y="19412"/>
                  </a:cubicBezTo>
                  <a:lnTo>
                    <a:pt x="831192" y="153273"/>
                  </a:lnTo>
                  <a:cubicBezTo>
                    <a:pt x="831192" y="158421"/>
                    <a:pt x="829146" y="163358"/>
                    <a:pt x="825506" y="166999"/>
                  </a:cubicBezTo>
                  <a:cubicBezTo>
                    <a:pt x="821866" y="170639"/>
                    <a:pt x="816928" y="172684"/>
                    <a:pt x="811780" y="172684"/>
                  </a:cubicBezTo>
                  <a:lnTo>
                    <a:pt x="19412" y="172684"/>
                  </a:lnTo>
                  <a:cubicBezTo>
                    <a:pt x="14263" y="172684"/>
                    <a:pt x="9326" y="170639"/>
                    <a:pt x="5686" y="166999"/>
                  </a:cubicBezTo>
                  <a:cubicBezTo>
                    <a:pt x="2045" y="163358"/>
                    <a:pt x="0" y="158421"/>
                    <a:pt x="0" y="153273"/>
                  </a:cubicBezTo>
                  <a:lnTo>
                    <a:pt x="0" y="19412"/>
                  </a:lnTo>
                  <a:cubicBezTo>
                    <a:pt x="0" y="14263"/>
                    <a:pt x="2045" y="9326"/>
                    <a:pt x="5686" y="5686"/>
                  </a:cubicBezTo>
                  <a:cubicBezTo>
                    <a:pt x="9326" y="2045"/>
                    <a:pt x="14263" y="0"/>
                    <a:pt x="19412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31192" cy="201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ANÁLISIS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58154" y="4883023"/>
            <a:ext cx="2791780" cy="580007"/>
            <a:chOff x="0" y="0"/>
            <a:chExt cx="831192" cy="1726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1192" cy="172684"/>
            </a:xfrm>
            <a:custGeom>
              <a:avLst/>
              <a:gdLst/>
              <a:ahLst/>
              <a:cxnLst/>
              <a:rect r="r" b="b" t="t" l="l"/>
              <a:pathLst>
                <a:path h="172684" w="831192">
                  <a:moveTo>
                    <a:pt x="19412" y="0"/>
                  </a:moveTo>
                  <a:lnTo>
                    <a:pt x="811780" y="0"/>
                  </a:lnTo>
                  <a:cubicBezTo>
                    <a:pt x="822501" y="0"/>
                    <a:pt x="831192" y="8691"/>
                    <a:pt x="831192" y="19412"/>
                  </a:cubicBezTo>
                  <a:lnTo>
                    <a:pt x="831192" y="153273"/>
                  </a:lnTo>
                  <a:cubicBezTo>
                    <a:pt x="831192" y="158421"/>
                    <a:pt x="829146" y="163358"/>
                    <a:pt x="825506" y="166999"/>
                  </a:cubicBezTo>
                  <a:cubicBezTo>
                    <a:pt x="821866" y="170639"/>
                    <a:pt x="816928" y="172684"/>
                    <a:pt x="811780" y="172684"/>
                  </a:cubicBezTo>
                  <a:lnTo>
                    <a:pt x="19412" y="172684"/>
                  </a:lnTo>
                  <a:cubicBezTo>
                    <a:pt x="14263" y="172684"/>
                    <a:pt x="9326" y="170639"/>
                    <a:pt x="5686" y="166999"/>
                  </a:cubicBezTo>
                  <a:cubicBezTo>
                    <a:pt x="2045" y="163358"/>
                    <a:pt x="0" y="158421"/>
                    <a:pt x="0" y="153273"/>
                  </a:cubicBezTo>
                  <a:lnTo>
                    <a:pt x="0" y="19412"/>
                  </a:lnTo>
                  <a:cubicBezTo>
                    <a:pt x="0" y="14263"/>
                    <a:pt x="2045" y="9326"/>
                    <a:pt x="5686" y="5686"/>
                  </a:cubicBezTo>
                  <a:cubicBezTo>
                    <a:pt x="9326" y="2045"/>
                    <a:pt x="14263" y="0"/>
                    <a:pt x="19412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31192" cy="201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DESARROLLO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33013" y="4883023"/>
            <a:ext cx="2791780" cy="580007"/>
            <a:chOff x="0" y="0"/>
            <a:chExt cx="831192" cy="1726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1192" cy="172684"/>
            </a:xfrm>
            <a:custGeom>
              <a:avLst/>
              <a:gdLst/>
              <a:ahLst/>
              <a:cxnLst/>
              <a:rect r="r" b="b" t="t" l="l"/>
              <a:pathLst>
                <a:path h="172684" w="831192">
                  <a:moveTo>
                    <a:pt x="19412" y="0"/>
                  </a:moveTo>
                  <a:lnTo>
                    <a:pt x="811780" y="0"/>
                  </a:lnTo>
                  <a:cubicBezTo>
                    <a:pt x="822501" y="0"/>
                    <a:pt x="831192" y="8691"/>
                    <a:pt x="831192" y="19412"/>
                  </a:cubicBezTo>
                  <a:lnTo>
                    <a:pt x="831192" y="153273"/>
                  </a:lnTo>
                  <a:cubicBezTo>
                    <a:pt x="831192" y="158421"/>
                    <a:pt x="829146" y="163358"/>
                    <a:pt x="825506" y="166999"/>
                  </a:cubicBezTo>
                  <a:cubicBezTo>
                    <a:pt x="821866" y="170639"/>
                    <a:pt x="816928" y="172684"/>
                    <a:pt x="811780" y="172684"/>
                  </a:cubicBezTo>
                  <a:lnTo>
                    <a:pt x="19412" y="172684"/>
                  </a:lnTo>
                  <a:cubicBezTo>
                    <a:pt x="14263" y="172684"/>
                    <a:pt x="9326" y="170639"/>
                    <a:pt x="5686" y="166999"/>
                  </a:cubicBezTo>
                  <a:cubicBezTo>
                    <a:pt x="2045" y="163358"/>
                    <a:pt x="0" y="158421"/>
                    <a:pt x="0" y="153273"/>
                  </a:cubicBezTo>
                  <a:lnTo>
                    <a:pt x="0" y="19412"/>
                  </a:lnTo>
                  <a:cubicBezTo>
                    <a:pt x="0" y="14263"/>
                    <a:pt x="2045" y="9326"/>
                    <a:pt x="5686" y="5686"/>
                  </a:cubicBezTo>
                  <a:cubicBezTo>
                    <a:pt x="9326" y="2045"/>
                    <a:pt x="14263" y="0"/>
                    <a:pt x="19412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831192" cy="201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9"/>
                </a:lnSpc>
                <a:spcBef>
                  <a:spcPct val="0"/>
                </a:spcBef>
              </a:pPr>
              <a:r>
                <a:rPr lang="en-US" sz="1614" spc="83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CALIDAD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91689">
                <a:alpha val="100000"/>
              </a:srgbClr>
            </a:gs>
            <a:gs pos="66667">
              <a:srgbClr val="3820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28309" y="0"/>
            <a:ext cx="5193642" cy="10287000"/>
          </a:xfrm>
          <a:custGeom>
            <a:avLst/>
            <a:gdLst/>
            <a:ahLst/>
            <a:cxnLst/>
            <a:rect r="r" b="b" t="t" l="l"/>
            <a:pathLst>
              <a:path h="10287000" w="5193642">
                <a:moveTo>
                  <a:pt x="0" y="0"/>
                </a:moveTo>
                <a:lnTo>
                  <a:pt x="5193643" y="0"/>
                </a:lnTo>
                <a:lnTo>
                  <a:pt x="5193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t="0" r="-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13387" y="1754962"/>
            <a:ext cx="11180506" cy="7361067"/>
            <a:chOff x="0" y="0"/>
            <a:chExt cx="3496697" cy="23021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96697" cy="2302170"/>
            </a:xfrm>
            <a:custGeom>
              <a:avLst/>
              <a:gdLst/>
              <a:ahLst/>
              <a:cxnLst/>
              <a:rect r="r" b="b" t="t" l="l"/>
              <a:pathLst>
                <a:path h="2302170" w="3496697">
                  <a:moveTo>
                    <a:pt x="4847" y="0"/>
                  </a:moveTo>
                  <a:lnTo>
                    <a:pt x="3491850" y="0"/>
                  </a:lnTo>
                  <a:cubicBezTo>
                    <a:pt x="3494527" y="0"/>
                    <a:pt x="3496697" y="2170"/>
                    <a:pt x="3496697" y="4847"/>
                  </a:cubicBezTo>
                  <a:lnTo>
                    <a:pt x="3496697" y="2297323"/>
                  </a:lnTo>
                  <a:cubicBezTo>
                    <a:pt x="3496697" y="2298608"/>
                    <a:pt x="3496187" y="2299841"/>
                    <a:pt x="3495278" y="2300750"/>
                  </a:cubicBezTo>
                  <a:cubicBezTo>
                    <a:pt x="3494369" y="2301659"/>
                    <a:pt x="3493136" y="2302170"/>
                    <a:pt x="3491850" y="2302170"/>
                  </a:cubicBezTo>
                  <a:lnTo>
                    <a:pt x="4847" y="2302170"/>
                  </a:lnTo>
                  <a:cubicBezTo>
                    <a:pt x="2170" y="2302170"/>
                    <a:pt x="0" y="2300000"/>
                    <a:pt x="0" y="2297323"/>
                  </a:cubicBezTo>
                  <a:lnTo>
                    <a:pt x="0" y="4847"/>
                  </a:lnTo>
                  <a:cubicBezTo>
                    <a:pt x="0" y="3562"/>
                    <a:pt x="511" y="2329"/>
                    <a:pt x="1420" y="1420"/>
                  </a:cubicBezTo>
                  <a:cubicBezTo>
                    <a:pt x="2329" y="511"/>
                    <a:pt x="3562" y="0"/>
                    <a:pt x="48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4EEA">
                    <a:alpha val="77000"/>
                  </a:srgbClr>
                </a:gs>
                <a:gs pos="50000">
                  <a:srgbClr val="5527F5">
                    <a:alpha val="77000"/>
                  </a:srgbClr>
                </a:gs>
                <a:gs pos="100000">
                  <a:srgbClr val="041069">
                    <a:alpha val="77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>
                  <a:alpha val="76863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96697" cy="2340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04329" y="3584081"/>
            <a:ext cx="1060764" cy="1253300"/>
          </a:xfrm>
          <a:custGeom>
            <a:avLst/>
            <a:gdLst/>
            <a:ahLst/>
            <a:cxnLst/>
            <a:rect r="r" b="b" t="t" l="l"/>
            <a:pathLst>
              <a:path h="1253300" w="1060764">
                <a:moveTo>
                  <a:pt x="0" y="0"/>
                </a:moveTo>
                <a:lnTo>
                  <a:pt x="1060764" y="0"/>
                </a:lnTo>
                <a:lnTo>
                  <a:pt x="1060764" y="1253300"/>
                </a:lnTo>
                <a:lnTo>
                  <a:pt x="0" y="1253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81683" y="6292124"/>
            <a:ext cx="1545185" cy="1164429"/>
          </a:xfrm>
          <a:custGeom>
            <a:avLst/>
            <a:gdLst/>
            <a:ahLst/>
            <a:cxnLst/>
            <a:rect r="r" b="b" t="t" l="l"/>
            <a:pathLst>
              <a:path h="1164429" w="1545185">
                <a:moveTo>
                  <a:pt x="0" y="0"/>
                </a:moveTo>
                <a:lnTo>
                  <a:pt x="1545184" y="0"/>
                </a:lnTo>
                <a:lnTo>
                  <a:pt x="1545184" y="1164429"/>
                </a:lnTo>
                <a:lnTo>
                  <a:pt x="0" y="11644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33559" y="6349263"/>
            <a:ext cx="1148043" cy="1360338"/>
          </a:xfrm>
          <a:custGeom>
            <a:avLst/>
            <a:gdLst/>
            <a:ahLst/>
            <a:cxnLst/>
            <a:rect r="r" b="b" t="t" l="l"/>
            <a:pathLst>
              <a:path h="1360338" w="1148043">
                <a:moveTo>
                  <a:pt x="0" y="0"/>
                </a:moveTo>
                <a:lnTo>
                  <a:pt x="1148043" y="0"/>
                </a:lnTo>
                <a:lnTo>
                  <a:pt x="1148043" y="1360338"/>
                </a:lnTo>
                <a:lnTo>
                  <a:pt x="0" y="13603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70196" y="3642724"/>
            <a:ext cx="1237028" cy="1167754"/>
          </a:xfrm>
          <a:custGeom>
            <a:avLst/>
            <a:gdLst/>
            <a:ahLst/>
            <a:cxnLst/>
            <a:rect r="r" b="b" t="t" l="l"/>
            <a:pathLst>
              <a:path h="1167754" w="1237028">
                <a:moveTo>
                  <a:pt x="0" y="0"/>
                </a:moveTo>
                <a:lnTo>
                  <a:pt x="1237028" y="0"/>
                </a:lnTo>
                <a:lnTo>
                  <a:pt x="1237028" y="1167754"/>
                </a:lnTo>
                <a:lnTo>
                  <a:pt x="0" y="11677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90193" y="2289343"/>
            <a:ext cx="9226893" cy="669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2"/>
              </a:lnSpc>
              <a:spcBef>
                <a:spcPct val="0"/>
              </a:spcBef>
            </a:pPr>
            <a:r>
              <a:rPr lang="en-US" sz="3909" spc="11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INTERESES PROFESIONALES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59071" y="4917491"/>
            <a:ext cx="2579829" cy="29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0"/>
              </a:lnSpc>
              <a:spcBef>
                <a:spcPct val="0"/>
              </a:spcBef>
            </a:pPr>
            <a:r>
              <a:rPr lang="en-US" sz="1678" spc="2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Análisis de requerimientos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51954" y="4917491"/>
            <a:ext cx="2282981" cy="29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0"/>
              </a:lnSpc>
              <a:spcBef>
                <a:spcPct val="0"/>
              </a:spcBef>
            </a:pPr>
            <a:r>
              <a:rPr lang="en-US" sz="1678" spc="2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Gestión de proyectos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53837" y="7665214"/>
            <a:ext cx="3094372" cy="29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0"/>
              </a:lnSpc>
              <a:spcBef>
                <a:spcPct val="0"/>
              </a:spcBef>
            </a:pPr>
            <a:r>
              <a:rPr lang="en-US" sz="1678" spc="2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Calidad y pruebas de software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12797" y="7665214"/>
            <a:ext cx="2272377" cy="586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0"/>
              </a:lnSpc>
              <a:spcBef>
                <a:spcPct val="0"/>
              </a:spcBef>
            </a:pPr>
            <a:r>
              <a:rPr lang="en-US" sz="1678" spc="2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Desarrollo de soluciones tecnológicas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91689">
                <a:alpha val="100000"/>
              </a:srgbClr>
            </a:gs>
            <a:gs pos="66667">
              <a:srgbClr val="3820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28309" y="0"/>
            <a:ext cx="5193642" cy="10287000"/>
          </a:xfrm>
          <a:custGeom>
            <a:avLst/>
            <a:gdLst/>
            <a:ahLst/>
            <a:cxnLst/>
            <a:rect r="r" b="b" t="t" l="l"/>
            <a:pathLst>
              <a:path h="10287000" w="5193642">
                <a:moveTo>
                  <a:pt x="0" y="0"/>
                </a:moveTo>
                <a:lnTo>
                  <a:pt x="5193643" y="0"/>
                </a:lnTo>
                <a:lnTo>
                  <a:pt x="5193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061" t="0" r="-12606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13387" y="1754962"/>
            <a:ext cx="11180506" cy="7361067"/>
            <a:chOff x="0" y="0"/>
            <a:chExt cx="3496697" cy="23021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96697" cy="2302170"/>
            </a:xfrm>
            <a:custGeom>
              <a:avLst/>
              <a:gdLst/>
              <a:ahLst/>
              <a:cxnLst/>
              <a:rect r="r" b="b" t="t" l="l"/>
              <a:pathLst>
                <a:path h="2302170" w="3496697">
                  <a:moveTo>
                    <a:pt x="4847" y="0"/>
                  </a:moveTo>
                  <a:lnTo>
                    <a:pt x="3491850" y="0"/>
                  </a:lnTo>
                  <a:cubicBezTo>
                    <a:pt x="3494527" y="0"/>
                    <a:pt x="3496697" y="2170"/>
                    <a:pt x="3496697" y="4847"/>
                  </a:cubicBezTo>
                  <a:lnTo>
                    <a:pt x="3496697" y="2297323"/>
                  </a:lnTo>
                  <a:cubicBezTo>
                    <a:pt x="3496697" y="2298608"/>
                    <a:pt x="3496187" y="2299841"/>
                    <a:pt x="3495278" y="2300750"/>
                  </a:cubicBezTo>
                  <a:cubicBezTo>
                    <a:pt x="3494369" y="2301659"/>
                    <a:pt x="3493136" y="2302170"/>
                    <a:pt x="3491850" y="2302170"/>
                  </a:cubicBezTo>
                  <a:lnTo>
                    <a:pt x="4847" y="2302170"/>
                  </a:lnTo>
                  <a:cubicBezTo>
                    <a:pt x="2170" y="2302170"/>
                    <a:pt x="0" y="2300000"/>
                    <a:pt x="0" y="2297323"/>
                  </a:cubicBezTo>
                  <a:lnTo>
                    <a:pt x="0" y="4847"/>
                  </a:lnTo>
                  <a:cubicBezTo>
                    <a:pt x="0" y="3562"/>
                    <a:pt x="511" y="2329"/>
                    <a:pt x="1420" y="1420"/>
                  </a:cubicBezTo>
                  <a:cubicBezTo>
                    <a:pt x="2329" y="511"/>
                    <a:pt x="3562" y="0"/>
                    <a:pt x="48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4EEA">
                    <a:alpha val="77000"/>
                  </a:srgbClr>
                </a:gs>
                <a:gs pos="50000">
                  <a:srgbClr val="5527F5">
                    <a:alpha val="77000"/>
                  </a:srgbClr>
                </a:gs>
                <a:gs pos="100000">
                  <a:srgbClr val="041069">
                    <a:alpha val="77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>
                  <a:alpha val="76863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96697" cy="2340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100984" y="3704355"/>
            <a:ext cx="1598697" cy="1153218"/>
          </a:xfrm>
          <a:custGeom>
            <a:avLst/>
            <a:gdLst/>
            <a:ahLst/>
            <a:cxnLst/>
            <a:rect r="r" b="b" t="t" l="l"/>
            <a:pathLst>
              <a:path h="1153218" w="1598697">
                <a:moveTo>
                  <a:pt x="0" y="0"/>
                </a:moveTo>
                <a:lnTo>
                  <a:pt x="1598698" y="0"/>
                </a:lnTo>
                <a:lnTo>
                  <a:pt x="1598698" y="1153218"/>
                </a:lnTo>
                <a:lnTo>
                  <a:pt x="0" y="1153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08585" y="6256717"/>
            <a:ext cx="1090746" cy="1210932"/>
          </a:xfrm>
          <a:custGeom>
            <a:avLst/>
            <a:gdLst/>
            <a:ahLst/>
            <a:cxnLst/>
            <a:rect r="r" b="b" t="t" l="l"/>
            <a:pathLst>
              <a:path h="1210932" w="1090746">
                <a:moveTo>
                  <a:pt x="0" y="0"/>
                </a:moveTo>
                <a:lnTo>
                  <a:pt x="1090746" y="0"/>
                </a:lnTo>
                <a:lnTo>
                  <a:pt x="1090746" y="1210932"/>
                </a:lnTo>
                <a:lnTo>
                  <a:pt x="0" y="1210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13521" y="6260508"/>
            <a:ext cx="1445952" cy="1286789"/>
          </a:xfrm>
          <a:custGeom>
            <a:avLst/>
            <a:gdLst/>
            <a:ahLst/>
            <a:cxnLst/>
            <a:rect r="r" b="b" t="t" l="l"/>
            <a:pathLst>
              <a:path h="1286789" w="1445952">
                <a:moveTo>
                  <a:pt x="0" y="0"/>
                </a:moveTo>
                <a:lnTo>
                  <a:pt x="1445952" y="0"/>
                </a:lnTo>
                <a:lnTo>
                  <a:pt x="1445952" y="1286789"/>
                </a:lnTo>
                <a:lnTo>
                  <a:pt x="0" y="12867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00009" y="3628338"/>
            <a:ext cx="1580550" cy="1153374"/>
          </a:xfrm>
          <a:custGeom>
            <a:avLst/>
            <a:gdLst/>
            <a:ahLst/>
            <a:cxnLst/>
            <a:rect r="r" b="b" t="t" l="l"/>
            <a:pathLst>
              <a:path h="1153374" w="1580550">
                <a:moveTo>
                  <a:pt x="0" y="0"/>
                </a:moveTo>
                <a:lnTo>
                  <a:pt x="1580549" y="0"/>
                </a:lnTo>
                <a:lnTo>
                  <a:pt x="1580549" y="1153374"/>
                </a:lnTo>
                <a:lnTo>
                  <a:pt x="0" y="1153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90193" y="2289343"/>
            <a:ext cx="9226893" cy="669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72"/>
              </a:lnSpc>
              <a:spcBef>
                <a:spcPct val="0"/>
              </a:spcBef>
            </a:pPr>
            <a:r>
              <a:rPr lang="en-US" sz="3909" spc="11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FACTIBILIDAD DEL PROYECTO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59071" y="4936541"/>
            <a:ext cx="2579829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2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Factibilidad Técnica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2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Node.js, Express, React, TypeScript, Redis, Docker, Swagger.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51954" y="4936541"/>
            <a:ext cx="2282981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2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Factibilidad de Tiempo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2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Planificación académica: análisis, diseño, desarrollo, pruebas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53837" y="7684264"/>
            <a:ext cx="309437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2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Riesgos y Mitigación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2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Planificación, seguimiento, pruebas progresivas y Definición tardía de parámetros del chatbot e integración del cliente en las pruebas.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12797" y="7684264"/>
            <a:ext cx="2272377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2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Factibilidad de Recursos</a:t>
            </a:r>
          </a:p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2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Computadores, internet, herramientas de desarrollo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29C8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2602D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28244" y="6571980"/>
            <a:ext cx="1749810" cy="2078649"/>
            <a:chOff x="0" y="0"/>
            <a:chExt cx="2685383" cy="31900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5288" cy="3189986"/>
            </a:xfrm>
            <a:custGeom>
              <a:avLst/>
              <a:gdLst/>
              <a:ahLst/>
              <a:cxnLst/>
              <a:rect r="r" b="b" t="t" l="l"/>
              <a:pathLst>
                <a:path h="3189986" w="2685288">
                  <a:moveTo>
                    <a:pt x="1650365" y="559689"/>
                  </a:moveTo>
                  <a:cubicBezTo>
                    <a:pt x="1342644" y="0"/>
                    <a:pt x="1342644" y="0"/>
                    <a:pt x="1342644" y="0"/>
                  </a:cubicBezTo>
                  <a:cubicBezTo>
                    <a:pt x="1035050" y="559689"/>
                    <a:pt x="1035050" y="559689"/>
                    <a:pt x="1035050" y="559689"/>
                  </a:cubicBezTo>
                  <a:cubicBezTo>
                    <a:pt x="447548" y="699516"/>
                    <a:pt x="0" y="1231265"/>
                    <a:pt x="0" y="1846834"/>
                  </a:cubicBezTo>
                  <a:cubicBezTo>
                    <a:pt x="0" y="2602357"/>
                    <a:pt x="615442" y="3189986"/>
                    <a:pt x="1342644" y="3189986"/>
                  </a:cubicBezTo>
                  <a:cubicBezTo>
                    <a:pt x="2069846" y="3189986"/>
                    <a:pt x="2685288" y="2602357"/>
                    <a:pt x="2685288" y="1846834"/>
                  </a:cubicBezTo>
                  <a:cubicBezTo>
                    <a:pt x="2685288" y="1231265"/>
                    <a:pt x="2237740" y="699516"/>
                    <a:pt x="1650238" y="559562"/>
                  </a:cubicBezTo>
                  <a:close/>
                  <a:moveTo>
                    <a:pt x="1342644" y="2966212"/>
                  </a:moveTo>
                  <a:cubicBezTo>
                    <a:pt x="727202" y="2966212"/>
                    <a:pt x="223774" y="2462530"/>
                    <a:pt x="223774" y="1846961"/>
                  </a:cubicBezTo>
                  <a:cubicBezTo>
                    <a:pt x="223774" y="1231392"/>
                    <a:pt x="727329" y="755650"/>
                    <a:pt x="1342644" y="755650"/>
                  </a:cubicBezTo>
                  <a:cubicBezTo>
                    <a:pt x="1957959" y="755650"/>
                    <a:pt x="2461514" y="1231392"/>
                    <a:pt x="2461514" y="1846961"/>
                  </a:cubicBezTo>
                  <a:cubicBezTo>
                    <a:pt x="2461514" y="2462530"/>
                    <a:pt x="1957959" y="2966212"/>
                    <a:pt x="1342644" y="296621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80733" y="6020646"/>
            <a:ext cx="382705" cy="365063"/>
            <a:chOff x="0" y="0"/>
            <a:chExt cx="587326" cy="5602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7375" cy="560197"/>
            </a:xfrm>
            <a:custGeom>
              <a:avLst/>
              <a:gdLst/>
              <a:ahLst/>
              <a:cxnLst/>
              <a:rect r="r" b="b" t="t" l="l"/>
              <a:pathLst>
                <a:path h="560197" w="587375">
                  <a:moveTo>
                    <a:pt x="0" y="280162"/>
                  </a:moveTo>
                  <a:cubicBezTo>
                    <a:pt x="0" y="125476"/>
                    <a:pt x="131445" y="0"/>
                    <a:pt x="293624" y="0"/>
                  </a:cubicBezTo>
                  <a:cubicBezTo>
                    <a:pt x="455803" y="0"/>
                    <a:pt x="587375" y="125476"/>
                    <a:pt x="587375" y="280162"/>
                  </a:cubicBezTo>
                  <a:cubicBezTo>
                    <a:pt x="587375" y="434848"/>
                    <a:pt x="455803" y="560197"/>
                    <a:pt x="293624" y="560197"/>
                  </a:cubicBezTo>
                  <a:cubicBezTo>
                    <a:pt x="13144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21206" y="6079192"/>
            <a:ext cx="363887" cy="365063"/>
            <a:chOff x="0" y="0"/>
            <a:chExt cx="558447" cy="5602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8419" cy="560197"/>
            </a:xfrm>
            <a:custGeom>
              <a:avLst/>
              <a:gdLst/>
              <a:ahLst/>
              <a:cxnLst/>
              <a:rect r="r" b="b" t="t" l="l"/>
              <a:pathLst>
                <a:path h="560197" w="558419">
                  <a:moveTo>
                    <a:pt x="0" y="280162"/>
                  </a:moveTo>
                  <a:cubicBezTo>
                    <a:pt x="0" y="125476"/>
                    <a:pt x="124968" y="0"/>
                    <a:pt x="279273" y="0"/>
                  </a:cubicBezTo>
                  <a:cubicBezTo>
                    <a:pt x="433578" y="0"/>
                    <a:pt x="558419" y="125476"/>
                    <a:pt x="558419" y="280162"/>
                  </a:cubicBezTo>
                  <a:cubicBezTo>
                    <a:pt x="558419" y="434848"/>
                    <a:pt x="433451" y="560197"/>
                    <a:pt x="279273" y="560197"/>
                  </a:cubicBezTo>
                  <a:cubicBezTo>
                    <a:pt x="12509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6354" y="3851908"/>
            <a:ext cx="1730992" cy="2077472"/>
            <a:chOff x="0" y="0"/>
            <a:chExt cx="2656504" cy="31882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56586" cy="3188208"/>
            </a:xfrm>
            <a:custGeom>
              <a:avLst/>
              <a:gdLst/>
              <a:ahLst/>
              <a:cxnLst/>
              <a:rect r="r" b="b" t="t" l="l"/>
              <a:pathLst>
                <a:path h="3188208" w="2656586">
                  <a:moveTo>
                    <a:pt x="1342263" y="0"/>
                  </a:moveTo>
                  <a:cubicBezTo>
                    <a:pt x="587248" y="0"/>
                    <a:pt x="0" y="587248"/>
                    <a:pt x="0" y="1342390"/>
                  </a:cubicBezTo>
                  <a:cubicBezTo>
                    <a:pt x="0" y="1957705"/>
                    <a:pt x="419481" y="2489073"/>
                    <a:pt x="1006729" y="2628900"/>
                  </a:cubicBezTo>
                  <a:cubicBezTo>
                    <a:pt x="1342263" y="3188208"/>
                    <a:pt x="1342263" y="3188208"/>
                    <a:pt x="1342263" y="3188208"/>
                  </a:cubicBezTo>
                  <a:cubicBezTo>
                    <a:pt x="1649857" y="2628900"/>
                    <a:pt x="1649857" y="2628900"/>
                    <a:pt x="1649857" y="2628900"/>
                  </a:cubicBezTo>
                  <a:cubicBezTo>
                    <a:pt x="2237105" y="2489073"/>
                    <a:pt x="2656586" y="1957705"/>
                    <a:pt x="2656586" y="1342390"/>
                  </a:cubicBezTo>
                  <a:cubicBezTo>
                    <a:pt x="2656459" y="587248"/>
                    <a:pt x="2069338" y="0"/>
                    <a:pt x="1342263" y="0"/>
                  </a:cubicBezTo>
                  <a:close/>
                  <a:moveTo>
                    <a:pt x="1342263" y="2461133"/>
                  </a:moveTo>
                  <a:cubicBezTo>
                    <a:pt x="727075" y="2461133"/>
                    <a:pt x="223774" y="1957705"/>
                    <a:pt x="223774" y="1342390"/>
                  </a:cubicBezTo>
                  <a:cubicBezTo>
                    <a:pt x="223774" y="727075"/>
                    <a:pt x="727075" y="223647"/>
                    <a:pt x="1342263" y="223647"/>
                  </a:cubicBezTo>
                  <a:cubicBezTo>
                    <a:pt x="1957451" y="223647"/>
                    <a:pt x="2432812" y="727075"/>
                    <a:pt x="2432812" y="1342390"/>
                  </a:cubicBezTo>
                  <a:cubicBezTo>
                    <a:pt x="2432812" y="1957705"/>
                    <a:pt x="1957451" y="2461133"/>
                    <a:pt x="1342263" y="246113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95060" y="4302072"/>
            <a:ext cx="771784" cy="888567"/>
          </a:xfrm>
          <a:custGeom>
            <a:avLst/>
            <a:gdLst/>
            <a:ahLst/>
            <a:cxnLst/>
            <a:rect r="r" b="b" t="t" l="l"/>
            <a:pathLst>
              <a:path h="888567" w="771784">
                <a:moveTo>
                  <a:pt x="0" y="0"/>
                </a:moveTo>
                <a:lnTo>
                  <a:pt x="771784" y="0"/>
                </a:lnTo>
                <a:lnTo>
                  <a:pt x="771784" y="888568"/>
                </a:lnTo>
                <a:lnTo>
                  <a:pt x="0" y="888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28377" y="7375569"/>
            <a:ext cx="775646" cy="851189"/>
          </a:xfrm>
          <a:custGeom>
            <a:avLst/>
            <a:gdLst/>
            <a:ahLst/>
            <a:cxnLst/>
            <a:rect r="r" b="b" t="t" l="l"/>
            <a:pathLst>
              <a:path h="851189" w="775646">
                <a:moveTo>
                  <a:pt x="0" y="0"/>
                </a:moveTo>
                <a:lnTo>
                  <a:pt x="775646" y="0"/>
                </a:lnTo>
                <a:lnTo>
                  <a:pt x="775646" y="851190"/>
                </a:lnTo>
                <a:lnTo>
                  <a:pt x="0" y="851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500237" y="6571980"/>
            <a:ext cx="1749810" cy="2078649"/>
            <a:chOff x="0" y="0"/>
            <a:chExt cx="2685383" cy="31900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85288" cy="3189986"/>
            </a:xfrm>
            <a:custGeom>
              <a:avLst/>
              <a:gdLst/>
              <a:ahLst/>
              <a:cxnLst/>
              <a:rect r="r" b="b" t="t" l="l"/>
              <a:pathLst>
                <a:path h="3189986" w="2685288">
                  <a:moveTo>
                    <a:pt x="1650365" y="559689"/>
                  </a:moveTo>
                  <a:cubicBezTo>
                    <a:pt x="1342644" y="0"/>
                    <a:pt x="1342644" y="0"/>
                    <a:pt x="1342644" y="0"/>
                  </a:cubicBezTo>
                  <a:cubicBezTo>
                    <a:pt x="1035050" y="559689"/>
                    <a:pt x="1035050" y="559689"/>
                    <a:pt x="1035050" y="559689"/>
                  </a:cubicBezTo>
                  <a:cubicBezTo>
                    <a:pt x="447548" y="699516"/>
                    <a:pt x="0" y="1231265"/>
                    <a:pt x="0" y="1846834"/>
                  </a:cubicBezTo>
                  <a:cubicBezTo>
                    <a:pt x="0" y="2602357"/>
                    <a:pt x="615442" y="3189986"/>
                    <a:pt x="1342644" y="3189986"/>
                  </a:cubicBezTo>
                  <a:cubicBezTo>
                    <a:pt x="2069846" y="3189986"/>
                    <a:pt x="2685288" y="2602357"/>
                    <a:pt x="2685288" y="1846834"/>
                  </a:cubicBezTo>
                  <a:cubicBezTo>
                    <a:pt x="2685288" y="1231265"/>
                    <a:pt x="2237740" y="699516"/>
                    <a:pt x="1650238" y="559562"/>
                  </a:cubicBezTo>
                  <a:close/>
                  <a:moveTo>
                    <a:pt x="1342644" y="2966212"/>
                  </a:moveTo>
                  <a:cubicBezTo>
                    <a:pt x="727202" y="2966212"/>
                    <a:pt x="223774" y="2462530"/>
                    <a:pt x="223774" y="1846961"/>
                  </a:cubicBezTo>
                  <a:cubicBezTo>
                    <a:pt x="223774" y="1231392"/>
                    <a:pt x="727329" y="755650"/>
                    <a:pt x="1342644" y="755650"/>
                  </a:cubicBezTo>
                  <a:cubicBezTo>
                    <a:pt x="1957959" y="755650"/>
                    <a:pt x="2461514" y="1231392"/>
                    <a:pt x="2461514" y="1846961"/>
                  </a:cubicBezTo>
                  <a:cubicBezTo>
                    <a:pt x="2461514" y="2462530"/>
                    <a:pt x="1957959" y="2966212"/>
                    <a:pt x="1342644" y="296621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52726" y="6020646"/>
            <a:ext cx="382705" cy="365063"/>
            <a:chOff x="0" y="0"/>
            <a:chExt cx="587326" cy="5602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7375" cy="560197"/>
            </a:xfrm>
            <a:custGeom>
              <a:avLst/>
              <a:gdLst/>
              <a:ahLst/>
              <a:cxnLst/>
              <a:rect r="r" b="b" t="t" l="l"/>
              <a:pathLst>
                <a:path h="560197" w="587375">
                  <a:moveTo>
                    <a:pt x="0" y="280162"/>
                  </a:moveTo>
                  <a:cubicBezTo>
                    <a:pt x="0" y="125476"/>
                    <a:pt x="131445" y="0"/>
                    <a:pt x="293624" y="0"/>
                  </a:cubicBezTo>
                  <a:cubicBezTo>
                    <a:pt x="455803" y="0"/>
                    <a:pt x="587375" y="125476"/>
                    <a:pt x="587375" y="280162"/>
                  </a:cubicBezTo>
                  <a:cubicBezTo>
                    <a:pt x="587375" y="434848"/>
                    <a:pt x="455803" y="560197"/>
                    <a:pt x="293624" y="560197"/>
                  </a:cubicBezTo>
                  <a:cubicBezTo>
                    <a:pt x="13144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193199" y="6079192"/>
            <a:ext cx="363887" cy="365063"/>
            <a:chOff x="0" y="0"/>
            <a:chExt cx="558447" cy="5602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8419" cy="560197"/>
            </a:xfrm>
            <a:custGeom>
              <a:avLst/>
              <a:gdLst/>
              <a:ahLst/>
              <a:cxnLst/>
              <a:rect r="r" b="b" t="t" l="l"/>
              <a:pathLst>
                <a:path h="560197" w="558419">
                  <a:moveTo>
                    <a:pt x="0" y="280162"/>
                  </a:moveTo>
                  <a:cubicBezTo>
                    <a:pt x="0" y="125476"/>
                    <a:pt x="124968" y="0"/>
                    <a:pt x="279273" y="0"/>
                  </a:cubicBezTo>
                  <a:cubicBezTo>
                    <a:pt x="433578" y="0"/>
                    <a:pt x="558419" y="125476"/>
                    <a:pt x="558419" y="280162"/>
                  </a:cubicBezTo>
                  <a:cubicBezTo>
                    <a:pt x="558419" y="434848"/>
                    <a:pt x="433451" y="560197"/>
                    <a:pt x="279273" y="560197"/>
                  </a:cubicBezTo>
                  <a:cubicBezTo>
                    <a:pt x="12509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978347" y="3851908"/>
            <a:ext cx="1730992" cy="2077472"/>
            <a:chOff x="0" y="0"/>
            <a:chExt cx="2656504" cy="31882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56586" cy="3188208"/>
            </a:xfrm>
            <a:custGeom>
              <a:avLst/>
              <a:gdLst/>
              <a:ahLst/>
              <a:cxnLst/>
              <a:rect r="r" b="b" t="t" l="l"/>
              <a:pathLst>
                <a:path h="3188208" w="2656586">
                  <a:moveTo>
                    <a:pt x="1342263" y="0"/>
                  </a:moveTo>
                  <a:cubicBezTo>
                    <a:pt x="587248" y="0"/>
                    <a:pt x="0" y="587248"/>
                    <a:pt x="0" y="1342390"/>
                  </a:cubicBezTo>
                  <a:cubicBezTo>
                    <a:pt x="0" y="1957705"/>
                    <a:pt x="419481" y="2489073"/>
                    <a:pt x="1006729" y="2628900"/>
                  </a:cubicBezTo>
                  <a:cubicBezTo>
                    <a:pt x="1342263" y="3188208"/>
                    <a:pt x="1342263" y="3188208"/>
                    <a:pt x="1342263" y="3188208"/>
                  </a:cubicBezTo>
                  <a:cubicBezTo>
                    <a:pt x="1649857" y="2628900"/>
                    <a:pt x="1649857" y="2628900"/>
                    <a:pt x="1649857" y="2628900"/>
                  </a:cubicBezTo>
                  <a:cubicBezTo>
                    <a:pt x="2237105" y="2489073"/>
                    <a:pt x="2656586" y="1957705"/>
                    <a:pt x="2656586" y="1342390"/>
                  </a:cubicBezTo>
                  <a:cubicBezTo>
                    <a:pt x="2656459" y="587248"/>
                    <a:pt x="2069338" y="0"/>
                    <a:pt x="1342263" y="0"/>
                  </a:cubicBezTo>
                  <a:close/>
                  <a:moveTo>
                    <a:pt x="1342263" y="2461133"/>
                  </a:moveTo>
                  <a:cubicBezTo>
                    <a:pt x="727075" y="2461133"/>
                    <a:pt x="223774" y="1957705"/>
                    <a:pt x="223774" y="1342390"/>
                  </a:cubicBezTo>
                  <a:cubicBezTo>
                    <a:pt x="223774" y="727075"/>
                    <a:pt x="727075" y="223647"/>
                    <a:pt x="1342263" y="223647"/>
                  </a:cubicBezTo>
                  <a:cubicBezTo>
                    <a:pt x="1957451" y="223647"/>
                    <a:pt x="2432812" y="727075"/>
                    <a:pt x="2432812" y="1342390"/>
                  </a:cubicBezTo>
                  <a:cubicBezTo>
                    <a:pt x="2432812" y="1957705"/>
                    <a:pt x="1957451" y="2461133"/>
                    <a:pt x="1342263" y="246113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9916391" y="7281402"/>
            <a:ext cx="917464" cy="917464"/>
          </a:xfrm>
          <a:custGeom>
            <a:avLst/>
            <a:gdLst/>
            <a:ahLst/>
            <a:cxnLst/>
            <a:rect r="r" b="b" t="t" l="l"/>
            <a:pathLst>
              <a:path h="917464" w="917464">
                <a:moveTo>
                  <a:pt x="0" y="0"/>
                </a:moveTo>
                <a:lnTo>
                  <a:pt x="917465" y="0"/>
                </a:lnTo>
                <a:lnTo>
                  <a:pt x="917465" y="917464"/>
                </a:lnTo>
                <a:lnTo>
                  <a:pt x="0" y="917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496981" y="4324241"/>
            <a:ext cx="745696" cy="741843"/>
          </a:xfrm>
          <a:custGeom>
            <a:avLst/>
            <a:gdLst/>
            <a:ahLst/>
            <a:cxnLst/>
            <a:rect r="r" b="b" t="t" l="l"/>
            <a:pathLst>
              <a:path h="741843" w="745696">
                <a:moveTo>
                  <a:pt x="0" y="0"/>
                </a:moveTo>
                <a:lnTo>
                  <a:pt x="745696" y="0"/>
                </a:lnTo>
                <a:lnTo>
                  <a:pt x="745696" y="741843"/>
                </a:lnTo>
                <a:lnTo>
                  <a:pt x="0" y="741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572230" y="6561989"/>
            <a:ext cx="1749810" cy="2078649"/>
            <a:chOff x="0" y="0"/>
            <a:chExt cx="2685383" cy="31900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85288" cy="3189986"/>
            </a:xfrm>
            <a:custGeom>
              <a:avLst/>
              <a:gdLst/>
              <a:ahLst/>
              <a:cxnLst/>
              <a:rect r="r" b="b" t="t" l="l"/>
              <a:pathLst>
                <a:path h="3189986" w="2685288">
                  <a:moveTo>
                    <a:pt x="1650365" y="559689"/>
                  </a:moveTo>
                  <a:cubicBezTo>
                    <a:pt x="1342644" y="0"/>
                    <a:pt x="1342644" y="0"/>
                    <a:pt x="1342644" y="0"/>
                  </a:cubicBezTo>
                  <a:cubicBezTo>
                    <a:pt x="1035050" y="559689"/>
                    <a:pt x="1035050" y="559689"/>
                    <a:pt x="1035050" y="559689"/>
                  </a:cubicBezTo>
                  <a:cubicBezTo>
                    <a:pt x="447548" y="699516"/>
                    <a:pt x="0" y="1231265"/>
                    <a:pt x="0" y="1846834"/>
                  </a:cubicBezTo>
                  <a:cubicBezTo>
                    <a:pt x="0" y="2602357"/>
                    <a:pt x="615442" y="3189986"/>
                    <a:pt x="1342644" y="3189986"/>
                  </a:cubicBezTo>
                  <a:cubicBezTo>
                    <a:pt x="2069846" y="3189986"/>
                    <a:pt x="2685288" y="2602357"/>
                    <a:pt x="2685288" y="1846834"/>
                  </a:cubicBezTo>
                  <a:cubicBezTo>
                    <a:pt x="2685288" y="1231265"/>
                    <a:pt x="2237740" y="699516"/>
                    <a:pt x="1650238" y="559562"/>
                  </a:cubicBezTo>
                  <a:close/>
                  <a:moveTo>
                    <a:pt x="1342644" y="2966212"/>
                  </a:moveTo>
                  <a:cubicBezTo>
                    <a:pt x="727202" y="2966212"/>
                    <a:pt x="223774" y="2462530"/>
                    <a:pt x="223774" y="1846961"/>
                  </a:cubicBezTo>
                  <a:cubicBezTo>
                    <a:pt x="223774" y="1231392"/>
                    <a:pt x="727329" y="755650"/>
                    <a:pt x="1342644" y="755650"/>
                  </a:cubicBezTo>
                  <a:cubicBezTo>
                    <a:pt x="1957959" y="755650"/>
                    <a:pt x="2461514" y="1231392"/>
                    <a:pt x="2461514" y="1846961"/>
                  </a:cubicBezTo>
                  <a:cubicBezTo>
                    <a:pt x="2461514" y="2462530"/>
                    <a:pt x="1957959" y="2966212"/>
                    <a:pt x="1342644" y="296621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724719" y="6010656"/>
            <a:ext cx="382705" cy="365063"/>
            <a:chOff x="0" y="0"/>
            <a:chExt cx="587326" cy="5602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7375" cy="560197"/>
            </a:xfrm>
            <a:custGeom>
              <a:avLst/>
              <a:gdLst/>
              <a:ahLst/>
              <a:cxnLst/>
              <a:rect r="r" b="b" t="t" l="l"/>
              <a:pathLst>
                <a:path h="560197" w="587375">
                  <a:moveTo>
                    <a:pt x="0" y="280162"/>
                  </a:moveTo>
                  <a:cubicBezTo>
                    <a:pt x="0" y="125476"/>
                    <a:pt x="131445" y="0"/>
                    <a:pt x="293624" y="0"/>
                  </a:cubicBezTo>
                  <a:cubicBezTo>
                    <a:pt x="455803" y="0"/>
                    <a:pt x="587375" y="125476"/>
                    <a:pt x="587375" y="280162"/>
                  </a:cubicBezTo>
                  <a:cubicBezTo>
                    <a:pt x="587375" y="434848"/>
                    <a:pt x="455803" y="560197"/>
                    <a:pt x="293624" y="560197"/>
                  </a:cubicBezTo>
                  <a:cubicBezTo>
                    <a:pt x="13144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265192" y="6069201"/>
            <a:ext cx="363887" cy="365063"/>
            <a:chOff x="0" y="0"/>
            <a:chExt cx="558447" cy="5602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8419" cy="560197"/>
            </a:xfrm>
            <a:custGeom>
              <a:avLst/>
              <a:gdLst/>
              <a:ahLst/>
              <a:cxnLst/>
              <a:rect r="r" b="b" t="t" l="l"/>
              <a:pathLst>
                <a:path h="560197" w="558419">
                  <a:moveTo>
                    <a:pt x="0" y="280162"/>
                  </a:moveTo>
                  <a:cubicBezTo>
                    <a:pt x="0" y="125476"/>
                    <a:pt x="124968" y="0"/>
                    <a:pt x="279273" y="0"/>
                  </a:cubicBezTo>
                  <a:cubicBezTo>
                    <a:pt x="433578" y="0"/>
                    <a:pt x="558419" y="125476"/>
                    <a:pt x="558419" y="280162"/>
                  </a:cubicBezTo>
                  <a:cubicBezTo>
                    <a:pt x="558419" y="434848"/>
                    <a:pt x="433451" y="560197"/>
                    <a:pt x="279273" y="560197"/>
                  </a:cubicBezTo>
                  <a:cubicBezTo>
                    <a:pt x="12509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050340" y="3841918"/>
            <a:ext cx="1730992" cy="2077472"/>
            <a:chOff x="0" y="0"/>
            <a:chExt cx="2656504" cy="31882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56586" cy="3188208"/>
            </a:xfrm>
            <a:custGeom>
              <a:avLst/>
              <a:gdLst/>
              <a:ahLst/>
              <a:cxnLst/>
              <a:rect r="r" b="b" t="t" l="l"/>
              <a:pathLst>
                <a:path h="3188208" w="2656586">
                  <a:moveTo>
                    <a:pt x="1342263" y="0"/>
                  </a:moveTo>
                  <a:cubicBezTo>
                    <a:pt x="587248" y="0"/>
                    <a:pt x="0" y="587248"/>
                    <a:pt x="0" y="1342390"/>
                  </a:cubicBezTo>
                  <a:cubicBezTo>
                    <a:pt x="0" y="1957705"/>
                    <a:pt x="419481" y="2489073"/>
                    <a:pt x="1006729" y="2628900"/>
                  </a:cubicBezTo>
                  <a:cubicBezTo>
                    <a:pt x="1342263" y="3188208"/>
                    <a:pt x="1342263" y="3188208"/>
                    <a:pt x="1342263" y="3188208"/>
                  </a:cubicBezTo>
                  <a:cubicBezTo>
                    <a:pt x="1649857" y="2628900"/>
                    <a:pt x="1649857" y="2628900"/>
                    <a:pt x="1649857" y="2628900"/>
                  </a:cubicBezTo>
                  <a:cubicBezTo>
                    <a:pt x="2237105" y="2489073"/>
                    <a:pt x="2656586" y="1957705"/>
                    <a:pt x="2656586" y="1342390"/>
                  </a:cubicBezTo>
                  <a:cubicBezTo>
                    <a:pt x="2656459" y="587248"/>
                    <a:pt x="2069338" y="0"/>
                    <a:pt x="1342263" y="0"/>
                  </a:cubicBezTo>
                  <a:close/>
                  <a:moveTo>
                    <a:pt x="1342263" y="2461133"/>
                  </a:moveTo>
                  <a:cubicBezTo>
                    <a:pt x="727075" y="2461133"/>
                    <a:pt x="223774" y="1957705"/>
                    <a:pt x="223774" y="1342390"/>
                  </a:cubicBezTo>
                  <a:cubicBezTo>
                    <a:pt x="223774" y="727075"/>
                    <a:pt x="727075" y="223647"/>
                    <a:pt x="1342263" y="223647"/>
                  </a:cubicBezTo>
                  <a:cubicBezTo>
                    <a:pt x="1957451" y="223647"/>
                    <a:pt x="2432812" y="727075"/>
                    <a:pt x="2432812" y="1342390"/>
                  </a:cubicBezTo>
                  <a:cubicBezTo>
                    <a:pt x="2432812" y="1957705"/>
                    <a:pt x="1957451" y="2461133"/>
                    <a:pt x="1342263" y="246113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5131874" y="7342932"/>
            <a:ext cx="629496" cy="842207"/>
          </a:xfrm>
          <a:custGeom>
            <a:avLst/>
            <a:gdLst/>
            <a:ahLst/>
            <a:cxnLst/>
            <a:rect r="r" b="b" t="t" l="l"/>
            <a:pathLst>
              <a:path h="842207" w="629496">
                <a:moveTo>
                  <a:pt x="0" y="0"/>
                </a:moveTo>
                <a:lnTo>
                  <a:pt x="629495" y="0"/>
                </a:lnTo>
                <a:lnTo>
                  <a:pt x="629495" y="842206"/>
                </a:lnTo>
                <a:lnTo>
                  <a:pt x="0" y="8422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542468" y="4289106"/>
            <a:ext cx="856479" cy="840538"/>
          </a:xfrm>
          <a:custGeom>
            <a:avLst/>
            <a:gdLst/>
            <a:ahLst/>
            <a:cxnLst/>
            <a:rect r="r" b="b" t="t" l="l"/>
            <a:pathLst>
              <a:path h="840538" w="856479">
                <a:moveTo>
                  <a:pt x="0" y="0"/>
                </a:moveTo>
                <a:lnTo>
                  <a:pt x="856479" y="0"/>
                </a:lnTo>
                <a:lnTo>
                  <a:pt x="856479" y="840538"/>
                </a:lnTo>
                <a:lnTo>
                  <a:pt x="0" y="840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1374679" y="260041"/>
            <a:ext cx="5802923" cy="4114800"/>
          </a:xfrm>
          <a:custGeom>
            <a:avLst/>
            <a:gdLst/>
            <a:ahLst/>
            <a:cxnLst/>
            <a:rect r="r" b="b" t="t" l="l"/>
            <a:pathLst>
              <a:path h="4114800" w="5802923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0">
            <a:off x="14104979" y="260041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472780" y="1290199"/>
            <a:ext cx="7342441" cy="63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20"/>
              </a:lnSpc>
              <a:spcBef>
                <a:spcPct val="0"/>
              </a:spcBef>
            </a:pPr>
            <a:r>
              <a:rPr lang="en-US" sz="3728" spc="108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DE TRABAJO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68793" y="318077"/>
            <a:ext cx="4750413" cy="89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88"/>
              </a:lnSpc>
              <a:spcBef>
                <a:spcPct val="0"/>
              </a:spcBef>
            </a:pPr>
            <a:r>
              <a:rPr lang="en-US" sz="5277" spc="15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METODOLOGÍA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33974" y="6501405"/>
            <a:ext cx="2018633" cy="826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5"/>
              </a:lnSpc>
            </a:pPr>
            <a:r>
              <a:rPr lang="en-US" sz="1582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Sprint 0 :</a:t>
            </a:r>
          </a:p>
          <a:p>
            <a:pPr algn="ctr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Definicion del proyecto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30082" y="4736482"/>
            <a:ext cx="1747972" cy="55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Sprint 1: Gestión Inicial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92011" y="6501405"/>
            <a:ext cx="2694270" cy="27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Sprint 2: Gestión operativa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02075" y="4736482"/>
            <a:ext cx="1747972" cy="55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Sprint 3: Gestión documental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981963" y="6491414"/>
            <a:ext cx="1956491" cy="55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Sprint 4: Canales CRM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368267" y="4726492"/>
            <a:ext cx="2185759" cy="27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Sprint 5: Cierre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72780" y="1998082"/>
            <a:ext cx="7342441" cy="438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0"/>
              </a:lnSpc>
              <a:spcBef>
                <a:spcPct val="0"/>
              </a:spcBef>
            </a:pPr>
            <a:r>
              <a:rPr lang="en-US" sz="2628" spc="76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MARCO ÁGIL SCRUM </a:t>
            </a:r>
            <a:r>
              <a:rPr lang="en-US" sz="2628" spc="76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EN 6 SPRINTS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050E5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9566" y="3094134"/>
            <a:ext cx="5285981" cy="5445602"/>
            <a:chOff x="0" y="0"/>
            <a:chExt cx="1448601" cy="1492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8601" cy="1492345"/>
            </a:xfrm>
            <a:custGeom>
              <a:avLst/>
              <a:gdLst/>
              <a:ahLst/>
              <a:cxnLst/>
              <a:rect r="r" b="b" t="t" l="l"/>
              <a:pathLst>
                <a:path h="1492345" w="1448601">
                  <a:moveTo>
                    <a:pt x="16111" y="0"/>
                  </a:moveTo>
                  <a:lnTo>
                    <a:pt x="1432491" y="0"/>
                  </a:lnTo>
                  <a:cubicBezTo>
                    <a:pt x="1441388" y="0"/>
                    <a:pt x="1448601" y="7213"/>
                    <a:pt x="1448601" y="16111"/>
                  </a:cubicBezTo>
                  <a:lnTo>
                    <a:pt x="1448601" y="1476234"/>
                  </a:lnTo>
                  <a:cubicBezTo>
                    <a:pt x="1448601" y="1485132"/>
                    <a:pt x="1441388" y="1492345"/>
                    <a:pt x="1432491" y="1492345"/>
                  </a:cubicBezTo>
                  <a:lnTo>
                    <a:pt x="16111" y="1492345"/>
                  </a:lnTo>
                  <a:cubicBezTo>
                    <a:pt x="7213" y="1492345"/>
                    <a:pt x="0" y="1485132"/>
                    <a:pt x="0" y="1476234"/>
                  </a:cubicBezTo>
                  <a:lnTo>
                    <a:pt x="0" y="16111"/>
                  </a:lnTo>
                  <a:cubicBezTo>
                    <a:pt x="0" y="7213"/>
                    <a:pt x="7213" y="0"/>
                    <a:pt x="16111" y="0"/>
                  </a:cubicBezTo>
                  <a:close/>
                </a:path>
              </a:pathLst>
            </a:custGeom>
            <a:solidFill>
              <a:srgbClr val="000000">
                <a:alpha val="4470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448601" cy="159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0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5923" y="4083602"/>
            <a:ext cx="4719688" cy="2474673"/>
          </a:xfrm>
          <a:custGeom>
            <a:avLst/>
            <a:gdLst/>
            <a:ahLst/>
            <a:cxnLst/>
            <a:rect r="r" b="b" t="t" l="l"/>
            <a:pathLst>
              <a:path h="2474673" w="4719688">
                <a:moveTo>
                  <a:pt x="0" y="0"/>
                </a:moveTo>
                <a:lnTo>
                  <a:pt x="4719688" y="0"/>
                </a:lnTo>
                <a:lnTo>
                  <a:pt x="4719688" y="2474673"/>
                </a:lnTo>
                <a:lnTo>
                  <a:pt x="0" y="2474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2" r="0" b="-30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18022" y="1771269"/>
            <a:ext cx="13650252" cy="101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EVIDENCIAS COMPROMETIDAS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378" y="6609730"/>
            <a:ext cx="4596778" cy="193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3"/>
              </a:lnSpc>
              <a:spcBef>
                <a:spcPct val="0"/>
              </a:spcBef>
            </a:pPr>
            <a:r>
              <a:rPr lang="en-US" sz="1573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📄 Análisis del problema</a:t>
            </a:r>
          </a:p>
          <a:p>
            <a:pPr algn="ctr" marL="0" indent="0" lvl="0">
              <a:lnSpc>
                <a:spcPts val="2203"/>
              </a:lnSpc>
              <a:spcBef>
                <a:spcPct val="0"/>
              </a:spcBef>
            </a:pPr>
            <a:r>
              <a:rPr lang="en-US" sz="1573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📄 Levantamiento de requerimientos</a:t>
            </a:r>
          </a:p>
          <a:p>
            <a:pPr algn="ctr" marL="0" indent="0" lvl="0">
              <a:lnSpc>
                <a:spcPts val="2203"/>
              </a:lnSpc>
              <a:spcBef>
                <a:spcPct val="0"/>
              </a:spcBef>
            </a:pPr>
            <a:r>
              <a:rPr lang="en-US" sz="1573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📄 Planificación del proyecto</a:t>
            </a:r>
          </a:p>
          <a:p>
            <a:pPr algn="ctr" marL="0" indent="0" lvl="0">
              <a:lnSpc>
                <a:spcPts val="2203"/>
              </a:lnSpc>
              <a:spcBef>
                <a:spcPct val="0"/>
              </a:spcBef>
            </a:pPr>
            <a:r>
              <a:rPr lang="en-US" sz="1573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📅 Carta Gantt</a:t>
            </a:r>
          </a:p>
          <a:p>
            <a:pPr algn="ctr" marL="0" indent="0" lvl="0">
              <a:lnSpc>
                <a:spcPts val="2203"/>
              </a:lnSpc>
              <a:spcBef>
                <a:spcPct val="0"/>
              </a:spcBef>
            </a:pPr>
            <a:r>
              <a:rPr lang="en-US" sz="1573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📄 Documentación del sistema</a:t>
            </a:r>
          </a:p>
          <a:p>
            <a:pPr algn="ctr" marL="0" indent="0" lvl="0">
              <a:lnSpc>
                <a:spcPts val="2203"/>
              </a:lnSpc>
              <a:spcBef>
                <a:spcPct val="0"/>
              </a:spcBef>
            </a:pPr>
            <a:r>
              <a:rPr lang="en-US" sz="1573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📄Documentación de API con Swagger y Product Backlog de Scrum.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00158" y="3094134"/>
            <a:ext cx="5285981" cy="5445602"/>
            <a:chOff x="0" y="0"/>
            <a:chExt cx="1448601" cy="14923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8601" cy="1492345"/>
            </a:xfrm>
            <a:custGeom>
              <a:avLst/>
              <a:gdLst/>
              <a:ahLst/>
              <a:cxnLst/>
              <a:rect r="r" b="b" t="t" l="l"/>
              <a:pathLst>
                <a:path h="1492345" w="1448601">
                  <a:moveTo>
                    <a:pt x="16111" y="0"/>
                  </a:moveTo>
                  <a:lnTo>
                    <a:pt x="1432491" y="0"/>
                  </a:lnTo>
                  <a:cubicBezTo>
                    <a:pt x="1441388" y="0"/>
                    <a:pt x="1448601" y="7213"/>
                    <a:pt x="1448601" y="16111"/>
                  </a:cubicBezTo>
                  <a:lnTo>
                    <a:pt x="1448601" y="1476234"/>
                  </a:lnTo>
                  <a:cubicBezTo>
                    <a:pt x="1448601" y="1485132"/>
                    <a:pt x="1441388" y="1492345"/>
                    <a:pt x="1432491" y="1492345"/>
                  </a:cubicBezTo>
                  <a:lnTo>
                    <a:pt x="16111" y="1492345"/>
                  </a:lnTo>
                  <a:cubicBezTo>
                    <a:pt x="7213" y="1492345"/>
                    <a:pt x="0" y="1485132"/>
                    <a:pt x="0" y="1476234"/>
                  </a:cubicBezTo>
                  <a:lnTo>
                    <a:pt x="0" y="16111"/>
                  </a:lnTo>
                  <a:cubicBezTo>
                    <a:pt x="0" y="7213"/>
                    <a:pt x="7213" y="0"/>
                    <a:pt x="16111" y="0"/>
                  </a:cubicBezTo>
                  <a:close/>
                </a:path>
              </a:pathLst>
            </a:custGeom>
            <a:solidFill>
              <a:srgbClr val="000000">
                <a:alpha val="4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448601" cy="159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0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36514" y="4083602"/>
            <a:ext cx="4719688" cy="2474673"/>
          </a:xfrm>
          <a:custGeom>
            <a:avLst/>
            <a:gdLst/>
            <a:ahLst/>
            <a:cxnLst/>
            <a:rect r="r" b="b" t="t" l="l"/>
            <a:pathLst>
              <a:path h="2474673" w="4719688">
                <a:moveTo>
                  <a:pt x="0" y="0"/>
                </a:moveTo>
                <a:lnTo>
                  <a:pt x="4719688" y="0"/>
                </a:lnTo>
                <a:lnTo>
                  <a:pt x="4719688" y="2474673"/>
                </a:lnTo>
                <a:lnTo>
                  <a:pt x="0" y="2474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2" r="0" b="-30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97969" y="6844810"/>
            <a:ext cx="4596778" cy="110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3"/>
              </a:lnSpc>
              <a:spcBef>
                <a:spcPct val="0"/>
              </a:spcBef>
            </a:pPr>
            <a:r>
              <a:rPr lang="en-US" sz="1573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🖥️ Diseño de interfaces</a:t>
            </a:r>
          </a:p>
          <a:p>
            <a:pPr algn="ctr" marL="0" indent="0" lvl="0">
              <a:lnSpc>
                <a:spcPts val="2203"/>
              </a:lnSpc>
              <a:spcBef>
                <a:spcPct val="0"/>
              </a:spcBef>
            </a:pPr>
            <a:r>
              <a:rPr lang="en-US" sz="1573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🗄️ Diseño de base de datos</a:t>
            </a:r>
          </a:p>
          <a:p>
            <a:pPr algn="ctr" marL="0" indent="0" lvl="0">
              <a:lnSpc>
                <a:spcPts val="2203"/>
              </a:lnSpc>
              <a:spcBef>
                <a:spcPct val="0"/>
              </a:spcBef>
            </a:pPr>
            <a:r>
              <a:rPr lang="en-US" sz="1573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💻 Código fuente</a:t>
            </a:r>
          </a:p>
          <a:p>
            <a:pPr algn="ctr" marL="0" indent="0" lvl="0">
              <a:lnSpc>
                <a:spcPts val="2203"/>
              </a:lnSpc>
              <a:spcBef>
                <a:spcPct val="0"/>
              </a:spcBef>
            </a:pPr>
            <a:r>
              <a:rPr lang="en-US" sz="1573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🧪 Evidencias de pruebas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42453" y="3094134"/>
            <a:ext cx="5285981" cy="5445602"/>
            <a:chOff x="0" y="0"/>
            <a:chExt cx="1448601" cy="14923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8601" cy="1492345"/>
            </a:xfrm>
            <a:custGeom>
              <a:avLst/>
              <a:gdLst/>
              <a:ahLst/>
              <a:cxnLst/>
              <a:rect r="r" b="b" t="t" l="l"/>
              <a:pathLst>
                <a:path h="1492345" w="1448601">
                  <a:moveTo>
                    <a:pt x="16111" y="0"/>
                  </a:moveTo>
                  <a:lnTo>
                    <a:pt x="1432491" y="0"/>
                  </a:lnTo>
                  <a:cubicBezTo>
                    <a:pt x="1441388" y="0"/>
                    <a:pt x="1448601" y="7213"/>
                    <a:pt x="1448601" y="16111"/>
                  </a:cubicBezTo>
                  <a:lnTo>
                    <a:pt x="1448601" y="1476234"/>
                  </a:lnTo>
                  <a:cubicBezTo>
                    <a:pt x="1448601" y="1485132"/>
                    <a:pt x="1441388" y="1492345"/>
                    <a:pt x="1432491" y="1492345"/>
                  </a:cubicBezTo>
                  <a:lnTo>
                    <a:pt x="16111" y="1492345"/>
                  </a:lnTo>
                  <a:cubicBezTo>
                    <a:pt x="7213" y="1492345"/>
                    <a:pt x="0" y="1485132"/>
                    <a:pt x="0" y="1476234"/>
                  </a:cubicBezTo>
                  <a:lnTo>
                    <a:pt x="0" y="16111"/>
                  </a:lnTo>
                  <a:cubicBezTo>
                    <a:pt x="0" y="7213"/>
                    <a:pt x="7213" y="0"/>
                    <a:pt x="16111" y="0"/>
                  </a:cubicBezTo>
                  <a:close/>
                </a:path>
              </a:pathLst>
            </a:custGeom>
            <a:solidFill>
              <a:srgbClr val="000000">
                <a:alpha val="4470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1448601" cy="159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06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378810" y="4083602"/>
            <a:ext cx="4719688" cy="2474673"/>
          </a:xfrm>
          <a:custGeom>
            <a:avLst/>
            <a:gdLst/>
            <a:ahLst/>
            <a:cxnLst/>
            <a:rect r="r" b="b" t="t" l="l"/>
            <a:pathLst>
              <a:path h="2474673" w="4719688">
                <a:moveTo>
                  <a:pt x="0" y="0"/>
                </a:moveTo>
                <a:lnTo>
                  <a:pt x="4719687" y="0"/>
                </a:lnTo>
                <a:lnTo>
                  <a:pt x="4719687" y="2474673"/>
                </a:lnTo>
                <a:lnTo>
                  <a:pt x="0" y="24746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2" r="0" b="-30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40264" y="6844810"/>
            <a:ext cx="4596778" cy="83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3"/>
              </a:lnSpc>
              <a:spcBef>
                <a:spcPct val="0"/>
              </a:spcBef>
            </a:pPr>
            <a:r>
              <a:rPr lang="en-US" sz="1573" spc="26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🌐 Solución centralizada para administrar los clientes, servicios y operaciones de Focus Power Fit.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91053" y="3267770"/>
            <a:ext cx="2823007" cy="39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3"/>
              </a:lnSpc>
              <a:spcBef>
                <a:spcPct val="0"/>
              </a:spcBef>
            </a:pPr>
            <a:r>
              <a:rPr lang="en-US" b="true" sz="2323" spc="3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Documentales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31645" y="3267770"/>
            <a:ext cx="2823007" cy="39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3"/>
              </a:lnSpc>
              <a:spcBef>
                <a:spcPct val="0"/>
              </a:spcBef>
            </a:pPr>
            <a:r>
              <a:rPr lang="en-US" b="true" sz="2323" spc="3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Técnicas / Visuales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80880" y="3267770"/>
            <a:ext cx="3409127" cy="39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3"/>
              </a:lnSpc>
              <a:spcBef>
                <a:spcPct val="0"/>
              </a:spcBef>
            </a:pPr>
            <a:r>
              <a:rPr lang="en-US" b="true" sz="2323" spc="3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Producto Final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29C8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2602D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28244" y="6571980"/>
            <a:ext cx="1749810" cy="2078649"/>
            <a:chOff x="0" y="0"/>
            <a:chExt cx="2685383" cy="31900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5288" cy="3189986"/>
            </a:xfrm>
            <a:custGeom>
              <a:avLst/>
              <a:gdLst/>
              <a:ahLst/>
              <a:cxnLst/>
              <a:rect r="r" b="b" t="t" l="l"/>
              <a:pathLst>
                <a:path h="3189986" w="2685288">
                  <a:moveTo>
                    <a:pt x="1650365" y="559689"/>
                  </a:moveTo>
                  <a:cubicBezTo>
                    <a:pt x="1342644" y="0"/>
                    <a:pt x="1342644" y="0"/>
                    <a:pt x="1342644" y="0"/>
                  </a:cubicBezTo>
                  <a:cubicBezTo>
                    <a:pt x="1035050" y="559689"/>
                    <a:pt x="1035050" y="559689"/>
                    <a:pt x="1035050" y="559689"/>
                  </a:cubicBezTo>
                  <a:cubicBezTo>
                    <a:pt x="447548" y="699516"/>
                    <a:pt x="0" y="1231265"/>
                    <a:pt x="0" y="1846834"/>
                  </a:cubicBezTo>
                  <a:cubicBezTo>
                    <a:pt x="0" y="2602357"/>
                    <a:pt x="615442" y="3189986"/>
                    <a:pt x="1342644" y="3189986"/>
                  </a:cubicBezTo>
                  <a:cubicBezTo>
                    <a:pt x="2069846" y="3189986"/>
                    <a:pt x="2685288" y="2602357"/>
                    <a:pt x="2685288" y="1846834"/>
                  </a:cubicBezTo>
                  <a:cubicBezTo>
                    <a:pt x="2685288" y="1231265"/>
                    <a:pt x="2237740" y="699516"/>
                    <a:pt x="1650238" y="559562"/>
                  </a:cubicBezTo>
                  <a:close/>
                  <a:moveTo>
                    <a:pt x="1342644" y="2966212"/>
                  </a:moveTo>
                  <a:cubicBezTo>
                    <a:pt x="727202" y="2966212"/>
                    <a:pt x="223774" y="2462530"/>
                    <a:pt x="223774" y="1846961"/>
                  </a:cubicBezTo>
                  <a:cubicBezTo>
                    <a:pt x="223774" y="1231392"/>
                    <a:pt x="727329" y="755650"/>
                    <a:pt x="1342644" y="755650"/>
                  </a:cubicBezTo>
                  <a:cubicBezTo>
                    <a:pt x="1957959" y="755650"/>
                    <a:pt x="2461514" y="1231392"/>
                    <a:pt x="2461514" y="1846961"/>
                  </a:cubicBezTo>
                  <a:cubicBezTo>
                    <a:pt x="2461514" y="2462530"/>
                    <a:pt x="1957959" y="2966212"/>
                    <a:pt x="1342644" y="296621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80733" y="6020646"/>
            <a:ext cx="382705" cy="365063"/>
            <a:chOff x="0" y="0"/>
            <a:chExt cx="587326" cy="5602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7375" cy="560197"/>
            </a:xfrm>
            <a:custGeom>
              <a:avLst/>
              <a:gdLst/>
              <a:ahLst/>
              <a:cxnLst/>
              <a:rect r="r" b="b" t="t" l="l"/>
              <a:pathLst>
                <a:path h="560197" w="587375">
                  <a:moveTo>
                    <a:pt x="0" y="280162"/>
                  </a:moveTo>
                  <a:cubicBezTo>
                    <a:pt x="0" y="125476"/>
                    <a:pt x="131445" y="0"/>
                    <a:pt x="293624" y="0"/>
                  </a:cubicBezTo>
                  <a:cubicBezTo>
                    <a:pt x="455803" y="0"/>
                    <a:pt x="587375" y="125476"/>
                    <a:pt x="587375" y="280162"/>
                  </a:cubicBezTo>
                  <a:cubicBezTo>
                    <a:pt x="587375" y="434848"/>
                    <a:pt x="455803" y="560197"/>
                    <a:pt x="293624" y="560197"/>
                  </a:cubicBezTo>
                  <a:cubicBezTo>
                    <a:pt x="13144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21206" y="6079192"/>
            <a:ext cx="363887" cy="365063"/>
            <a:chOff x="0" y="0"/>
            <a:chExt cx="558447" cy="5602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8419" cy="560197"/>
            </a:xfrm>
            <a:custGeom>
              <a:avLst/>
              <a:gdLst/>
              <a:ahLst/>
              <a:cxnLst/>
              <a:rect r="r" b="b" t="t" l="l"/>
              <a:pathLst>
                <a:path h="560197" w="558419">
                  <a:moveTo>
                    <a:pt x="0" y="280162"/>
                  </a:moveTo>
                  <a:cubicBezTo>
                    <a:pt x="0" y="125476"/>
                    <a:pt x="124968" y="0"/>
                    <a:pt x="279273" y="0"/>
                  </a:cubicBezTo>
                  <a:cubicBezTo>
                    <a:pt x="433578" y="0"/>
                    <a:pt x="558419" y="125476"/>
                    <a:pt x="558419" y="280162"/>
                  </a:cubicBezTo>
                  <a:cubicBezTo>
                    <a:pt x="558419" y="434848"/>
                    <a:pt x="433451" y="560197"/>
                    <a:pt x="279273" y="560197"/>
                  </a:cubicBezTo>
                  <a:cubicBezTo>
                    <a:pt x="12509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6354" y="3851908"/>
            <a:ext cx="1730992" cy="2077472"/>
            <a:chOff x="0" y="0"/>
            <a:chExt cx="2656504" cy="31882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56586" cy="3188208"/>
            </a:xfrm>
            <a:custGeom>
              <a:avLst/>
              <a:gdLst/>
              <a:ahLst/>
              <a:cxnLst/>
              <a:rect r="r" b="b" t="t" l="l"/>
              <a:pathLst>
                <a:path h="3188208" w="2656586">
                  <a:moveTo>
                    <a:pt x="1342263" y="0"/>
                  </a:moveTo>
                  <a:cubicBezTo>
                    <a:pt x="587248" y="0"/>
                    <a:pt x="0" y="587248"/>
                    <a:pt x="0" y="1342390"/>
                  </a:cubicBezTo>
                  <a:cubicBezTo>
                    <a:pt x="0" y="1957705"/>
                    <a:pt x="419481" y="2489073"/>
                    <a:pt x="1006729" y="2628900"/>
                  </a:cubicBezTo>
                  <a:cubicBezTo>
                    <a:pt x="1342263" y="3188208"/>
                    <a:pt x="1342263" y="3188208"/>
                    <a:pt x="1342263" y="3188208"/>
                  </a:cubicBezTo>
                  <a:cubicBezTo>
                    <a:pt x="1649857" y="2628900"/>
                    <a:pt x="1649857" y="2628900"/>
                    <a:pt x="1649857" y="2628900"/>
                  </a:cubicBezTo>
                  <a:cubicBezTo>
                    <a:pt x="2237105" y="2489073"/>
                    <a:pt x="2656586" y="1957705"/>
                    <a:pt x="2656586" y="1342390"/>
                  </a:cubicBezTo>
                  <a:cubicBezTo>
                    <a:pt x="2656459" y="587248"/>
                    <a:pt x="2069338" y="0"/>
                    <a:pt x="1342263" y="0"/>
                  </a:cubicBezTo>
                  <a:close/>
                  <a:moveTo>
                    <a:pt x="1342263" y="2461133"/>
                  </a:moveTo>
                  <a:cubicBezTo>
                    <a:pt x="727075" y="2461133"/>
                    <a:pt x="223774" y="1957705"/>
                    <a:pt x="223774" y="1342390"/>
                  </a:cubicBezTo>
                  <a:cubicBezTo>
                    <a:pt x="223774" y="727075"/>
                    <a:pt x="727075" y="223647"/>
                    <a:pt x="1342263" y="223647"/>
                  </a:cubicBezTo>
                  <a:cubicBezTo>
                    <a:pt x="1957451" y="223647"/>
                    <a:pt x="2432812" y="727075"/>
                    <a:pt x="2432812" y="1342390"/>
                  </a:cubicBezTo>
                  <a:cubicBezTo>
                    <a:pt x="2432812" y="1957705"/>
                    <a:pt x="1957451" y="2461133"/>
                    <a:pt x="1342263" y="246113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87400" y="4299925"/>
            <a:ext cx="819173" cy="886113"/>
          </a:xfrm>
          <a:custGeom>
            <a:avLst/>
            <a:gdLst/>
            <a:ahLst/>
            <a:cxnLst/>
            <a:rect r="r" b="b" t="t" l="l"/>
            <a:pathLst>
              <a:path h="886113" w="819173">
                <a:moveTo>
                  <a:pt x="0" y="0"/>
                </a:moveTo>
                <a:lnTo>
                  <a:pt x="819172" y="0"/>
                </a:lnTo>
                <a:lnTo>
                  <a:pt x="819172" y="886113"/>
                </a:lnTo>
                <a:lnTo>
                  <a:pt x="0" y="886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13159" y="7429739"/>
            <a:ext cx="806253" cy="784903"/>
          </a:xfrm>
          <a:custGeom>
            <a:avLst/>
            <a:gdLst/>
            <a:ahLst/>
            <a:cxnLst/>
            <a:rect r="r" b="b" t="t" l="l"/>
            <a:pathLst>
              <a:path h="784903" w="806253">
                <a:moveTo>
                  <a:pt x="0" y="0"/>
                </a:moveTo>
                <a:lnTo>
                  <a:pt x="806253" y="0"/>
                </a:lnTo>
                <a:lnTo>
                  <a:pt x="806253" y="784903"/>
                </a:lnTo>
                <a:lnTo>
                  <a:pt x="0" y="784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3150422" y="6201044"/>
            <a:ext cx="1621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852927" y="6222228"/>
            <a:ext cx="1621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9500237" y="6571980"/>
            <a:ext cx="1749810" cy="2078649"/>
            <a:chOff x="0" y="0"/>
            <a:chExt cx="2685383" cy="31900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85288" cy="3189986"/>
            </a:xfrm>
            <a:custGeom>
              <a:avLst/>
              <a:gdLst/>
              <a:ahLst/>
              <a:cxnLst/>
              <a:rect r="r" b="b" t="t" l="l"/>
              <a:pathLst>
                <a:path h="3189986" w="2685288">
                  <a:moveTo>
                    <a:pt x="1650365" y="559689"/>
                  </a:moveTo>
                  <a:cubicBezTo>
                    <a:pt x="1342644" y="0"/>
                    <a:pt x="1342644" y="0"/>
                    <a:pt x="1342644" y="0"/>
                  </a:cubicBezTo>
                  <a:cubicBezTo>
                    <a:pt x="1035050" y="559689"/>
                    <a:pt x="1035050" y="559689"/>
                    <a:pt x="1035050" y="559689"/>
                  </a:cubicBezTo>
                  <a:cubicBezTo>
                    <a:pt x="447548" y="699516"/>
                    <a:pt x="0" y="1231265"/>
                    <a:pt x="0" y="1846834"/>
                  </a:cubicBezTo>
                  <a:cubicBezTo>
                    <a:pt x="0" y="2602357"/>
                    <a:pt x="615442" y="3189986"/>
                    <a:pt x="1342644" y="3189986"/>
                  </a:cubicBezTo>
                  <a:cubicBezTo>
                    <a:pt x="2069846" y="3189986"/>
                    <a:pt x="2685288" y="2602357"/>
                    <a:pt x="2685288" y="1846834"/>
                  </a:cubicBezTo>
                  <a:cubicBezTo>
                    <a:pt x="2685288" y="1231265"/>
                    <a:pt x="2237740" y="699516"/>
                    <a:pt x="1650238" y="559562"/>
                  </a:cubicBezTo>
                  <a:close/>
                  <a:moveTo>
                    <a:pt x="1342644" y="2966212"/>
                  </a:moveTo>
                  <a:cubicBezTo>
                    <a:pt x="727202" y="2966212"/>
                    <a:pt x="223774" y="2462530"/>
                    <a:pt x="223774" y="1846961"/>
                  </a:cubicBezTo>
                  <a:cubicBezTo>
                    <a:pt x="223774" y="1231392"/>
                    <a:pt x="727329" y="755650"/>
                    <a:pt x="1342644" y="755650"/>
                  </a:cubicBezTo>
                  <a:cubicBezTo>
                    <a:pt x="1957959" y="755650"/>
                    <a:pt x="2461514" y="1231392"/>
                    <a:pt x="2461514" y="1846961"/>
                  </a:cubicBezTo>
                  <a:cubicBezTo>
                    <a:pt x="2461514" y="2462530"/>
                    <a:pt x="1957959" y="2966212"/>
                    <a:pt x="1342644" y="296621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652726" y="6020646"/>
            <a:ext cx="382705" cy="365063"/>
            <a:chOff x="0" y="0"/>
            <a:chExt cx="587326" cy="5602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7375" cy="560197"/>
            </a:xfrm>
            <a:custGeom>
              <a:avLst/>
              <a:gdLst/>
              <a:ahLst/>
              <a:cxnLst/>
              <a:rect r="r" b="b" t="t" l="l"/>
              <a:pathLst>
                <a:path h="560197" w="587375">
                  <a:moveTo>
                    <a:pt x="0" y="280162"/>
                  </a:moveTo>
                  <a:cubicBezTo>
                    <a:pt x="0" y="125476"/>
                    <a:pt x="131445" y="0"/>
                    <a:pt x="293624" y="0"/>
                  </a:cubicBezTo>
                  <a:cubicBezTo>
                    <a:pt x="455803" y="0"/>
                    <a:pt x="587375" y="125476"/>
                    <a:pt x="587375" y="280162"/>
                  </a:cubicBezTo>
                  <a:cubicBezTo>
                    <a:pt x="587375" y="434848"/>
                    <a:pt x="455803" y="560197"/>
                    <a:pt x="293624" y="560197"/>
                  </a:cubicBezTo>
                  <a:cubicBezTo>
                    <a:pt x="13144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193199" y="6079192"/>
            <a:ext cx="363887" cy="365063"/>
            <a:chOff x="0" y="0"/>
            <a:chExt cx="558447" cy="5602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419" cy="560197"/>
            </a:xfrm>
            <a:custGeom>
              <a:avLst/>
              <a:gdLst/>
              <a:ahLst/>
              <a:cxnLst/>
              <a:rect r="r" b="b" t="t" l="l"/>
              <a:pathLst>
                <a:path h="560197" w="558419">
                  <a:moveTo>
                    <a:pt x="0" y="280162"/>
                  </a:moveTo>
                  <a:cubicBezTo>
                    <a:pt x="0" y="125476"/>
                    <a:pt x="124968" y="0"/>
                    <a:pt x="279273" y="0"/>
                  </a:cubicBezTo>
                  <a:cubicBezTo>
                    <a:pt x="433578" y="0"/>
                    <a:pt x="558419" y="125476"/>
                    <a:pt x="558419" y="280162"/>
                  </a:cubicBezTo>
                  <a:cubicBezTo>
                    <a:pt x="558419" y="434848"/>
                    <a:pt x="433451" y="560197"/>
                    <a:pt x="279273" y="560197"/>
                  </a:cubicBezTo>
                  <a:cubicBezTo>
                    <a:pt x="12509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978347" y="3851908"/>
            <a:ext cx="1730992" cy="2077472"/>
            <a:chOff x="0" y="0"/>
            <a:chExt cx="2656504" cy="31882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56586" cy="3188208"/>
            </a:xfrm>
            <a:custGeom>
              <a:avLst/>
              <a:gdLst/>
              <a:ahLst/>
              <a:cxnLst/>
              <a:rect r="r" b="b" t="t" l="l"/>
              <a:pathLst>
                <a:path h="3188208" w="2656586">
                  <a:moveTo>
                    <a:pt x="1342263" y="0"/>
                  </a:moveTo>
                  <a:cubicBezTo>
                    <a:pt x="587248" y="0"/>
                    <a:pt x="0" y="587248"/>
                    <a:pt x="0" y="1342390"/>
                  </a:cubicBezTo>
                  <a:cubicBezTo>
                    <a:pt x="0" y="1957705"/>
                    <a:pt x="419481" y="2489073"/>
                    <a:pt x="1006729" y="2628900"/>
                  </a:cubicBezTo>
                  <a:cubicBezTo>
                    <a:pt x="1342263" y="3188208"/>
                    <a:pt x="1342263" y="3188208"/>
                    <a:pt x="1342263" y="3188208"/>
                  </a:cubicBezTo>
                  <a:cubicBezTo>
                    <a:pt x="1649857" y="2628900"/>
                    <a:pt x="1649857" y="2628900"/>
                    <a:pt x="1649857" y="2628900"/>
                  </a:cubicBezTo>
                  <a:cubicBezTo>
                    <a:pt x="2237105" y="2489073"/>
                    <a:pt x="2656586" y="1957705"/>
                    <a:pt x="2656586" y="1342390"/>
                  </a:cubicBezTo>
                  <a:cubicBezTo>
                    <a:pt x="2656459" y="587248"/>
                    <a:pt x="2069338" y="0"/>
                    <a:pt x="1342263" y="0"/>
                  </a:cubicBezTo>
                  <a:close/>
                  <a:moveTo>
                    <a:pt x="1342263" y="2461133"/>
                  </a:moveTo>
                  <a:cubicBezTo>
                    <a:pt x="727075" y="2461133"/>
                    <a:pt x="223774" y="1957705"/>
                    <a:pt x="223774" y="1342390"/>
                  </a:cubicBezTo>
                  <a:cubicBezTo>
                    <a:pt x="223774" y="727075"/>
                    <a:pt x="727075" y="223647"/>
                    <a:pt x="1342263" y="223647"/>
                  </a:cubicBezTo>
                  <a:cubicBezTo>
                    <a:pt x="1957451" y="223647"/>
                    <a:pt x="2432812" y="727075"/>
                    <a:pt x="2432812" y="1342390"/>
                  </a:cubicBezTo>
                  <a:cubicBezTo>
                    <a:pt x="2432812" y="1957705"/>
                    <a:pt x="1957451" y="2461133"/>
                    <a:pt x="1342263" y="246113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AutoShape 22" id="22"/>
          <p:cNvSpPr/>
          <p:nvPr/>
        </p:nvSpPr>
        <p:spPr>
          <a:xfrm>
            <a:off x="8222415" y="6201044"/>
            <a:ext cx="1621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0924920" y="6222228"/>
            <a:ext cx="1621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9842663" y="7325811"/>
            <a:ext cx="1076742" cy="808753"/>
          </a:xfrm>
          <a:custGeom>
            <a:avLst/>
            <a:gdLst/>
            <a:ahLst/>
            <a:cxnLst/>
            <a:rect r="r" b="b" t="t" l="l"/>
            <a:pathLst>
              <a:path h="808753" w="1076742">
                <a:moveTo>
                  <a:pt x="0" y="0"/>
                </a:moveTo>
                <a:lnTo>
                  <a:pt x="1076742" y="0"/>
                </a:lnTo>
                <a:lnTo>
                  <a:pt x="1076742" y="808753"/>
                </a:lnTo>
                <a:lnTo>
                  <a:pt x="0" y="8087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485509" y="4280144"/>
            <a:ext cx="768669" cy="859170"/>
          </a:xfrm>
          <a:custGeom>
            <a:avLst/>
            <a:gdLst/>
            <a:ahLst/>
            <a:cxnLst/>
            <a:rect r="r" b="b" t="t" l="l"/>
            <a:pathLst>
              <a:path h="859170" w="768669">
                <a:moveTo>
                  <a:pt x="0" y="0"/>
                </a:moveTo>
                <a:lnTo>
                  <a:pt x="768669" y="0"/>
                </a:lnTo>
                <a:lnTo>
                  <a:pt x="768669" y="859170"/>
                </a:lnTo>
                <a:lnTo>
                  <a:pt x="0" y="859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4572230" y="6561989"/>
            <a:ext cx="1749810" cy="2078649"/>
            <a:chOff x="0" y="0"/>
            <a:chExt cx="2685383" cy="31900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5288" cy="3189986"/>
            </a:xfrm>
            <a:custGeom>
              <a:avLst/>
              <a:gdLst/>
              <a:ahLst/>
              <a:cxnLst/>
              <a:rect r="r" b="b" t="t" l="l"/>
              <a:pathLst>
                <a:path h="3189986" w="2685288">
                  <a:moveTo>
                    <a:pt x="1650365" y="559689"/>
                  </a:moveTo>
                  <a:cubicBezTo>
                    <a:pt x="1342644" y="0"/>
                    <a:pt x="1342644" y="0"/>
                    <a:pt x="1342644" y="0"/>
                  </a:cubicBezTo>
                  <a:cubicBezTo>
                    <a:pt x="1035050" y="559689"/>
                    <a:pt x="1035050" y="559689"/>
                    <a:pt x="1035050" y="559689"/>
                  </a:cubicBezTo>
                  <a:cubicBezTo>
                    <a:pt x="447548" y="699516"/>
                    <a:pt x="0" y="1231265"/>
                    <a:pt x="0" y="1846834"/>
                  </a:cubicBezTo>
                  <a:cubicBezTo>
                    <a:pt x="0" y="2602357"/>
                    <a:pt x="615442" y="3189986"/>
                    <a:pt x="1342644" y="3189986"/>
                  </a:cubicBezTo>
                  <a:cubicBezTo>
                    <a:pt x="2069846" y="3189986"/>
                    <a:pt x="2685288" y="2602357"/>
                    <a:pt x="2685288" y="1846834"/>
                  </a:cubicBezTo>
                  <a:cubicBezTo>
                    <a:pt x="2685288" y="1231265"/>
                    <a:pt x="2237740" y="699516"/>
                    <a:pt x="1650238" y="559562"/>
                  </a:cubicBezTo>
                  <a:close/>
                  <a:moveTo>
                    <a:pt x="1342644" y="2966212"/>
                  </a:moveTo>
                  <a:cubicBezTo>
                    <a:pt x="727202" y="2966212"/>
                    <a:pt x="223774" y="2462530"/>
                    <a:pt x="223774" y="1846961"/>
                  </a:cubicBezTo>
                  <a:cubicBezTo>
                    <a:pt x="223774" y="1231392"/>
                    <a:pt x="727329" y="755650"/>
                    <a:pt x="1342644" y="755650"/>
                  </a:cubicBezTo>
                  <a:cubicBezTo>
                    <a:pt x="1957959" y="755650"/>
                    <a:pt x="2461514" y="1231392"/>
                    <a:pt x="2461514" y="1846961"/>
                  </a:cubicBezTo>
                  <a:cubicBezTo>
                    <a:pt x="2461514" y="2462530"/>
                    <a:pt x="1957959" y="2966212"/>
                    <a:pt x="1342644" y="296621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724719" y="6010656"/>
            <a:ext cx="382705" cy="365063"/>
            <a:chOff x="0" y="0"/>
            <a:chExt cx="587326" cy="5602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7375" cy="560197"/>
            </a:xfrm>
            <a:custGeom>
              <a:avLst/>
              <a:gdLst/>
              <a:ahLst/>
              <a:cxnLst/>
              <a:rect r="r" b="b" t="t" l="l"/>
              <a:pathLst>
                <a:path h="560197" w="587375">
                  <a:moveTo>
                    <a:pt x="0" y="280162"/>
                  </a:moveTo>
                  <a:cubicBezTo>
                    <a:pt x="0" y="125476"/>
                    <a:pt x="131445" y="0"/>
                    <a:pt x="293624" y="0"/>
                  </a:cubicBezTo>
                  <a:cubicBezTo>
                    <a:pt x="455803" y="0"/>
                    <a:pt x="587375" y="125476"/>
                    <a:pt x="587375" y="280162"/>
                  </a:cubicBezTo>
                  <a:cubicBezTo>
                    <a:pt x="587375" y="434848"/>
                    <a:pt x="455803" y="560197"/>
                    <a:pt x="293624" y="560197"/>
                  </a:cubicBezTo>
                  <a:cubicBezTo>
                    <a:pt x="13144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265192" y="6069201"/>
            <a:ext cx="363887" cy="365063"/>
            <a:chOff x="0" y="0"/>
            <a:chExt cx="558447" cy="5602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8419" cy="560197"/>
            </a:xfrm>
            <a:custGeom>
              <a:avLst/>
              <a:gdLst/>
              <a:ahLst/>
              <a:cxnLst/>
              <a:rect r="r" b="b" t="t" l="l"/>
              <a:pathLst>
                <a:path h="560197" w="558419">
                  <a:moveTo>
                    <a:pt x="0" y="280162"/>
                  </a:moveTo>
                  <a:cubicBezTo>
                    <a:pt x="0" y="125476"/>
                    <a:pt x="124968" y="0"/>
                    <a:pt x="279273" y="0"/>
                  </a:cubicBezTo>
                  <a:cubicBezTo>
                    <a:pt x="433578" y="0"/>
                    <a:pt x="558419" y="125476"/>
                    <a:pt x="558419" y="280162"/>
                  </a:cubicBezTo>
                  <a:cubicBezTo>
                    <a:pt x="558419" y="434848"/>
                    <a:pt x="433451" y="560197"/>
                    <a:pt x="279273" y="560197"/>
                  </a:cubicBezTo>
                  <a:cubicBezTo>
                    <a:pt x="125095" y="560197"/>
                    <a:pt x="0" y="434848"/>
                    <a:pt x="0" y="2801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050340" y="3841918"/>
            <a:ext cx="1730992" cy="2077472"/>
            <a:chOff x="0" y="0"/>
            <a:chExt cx="2656504" cy="31882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56586" cy="3188208"/>
            </a:xfrm>
            <a:custGeom>
              <a:avLst/>
              <a:gdLst/>
              <a:ahLst/>
              <a:cxnLst/>
              <a:rect r="r" b="b" t="t" l="l"/>
              <a:pathLst>
                <a:path h="3188208" w="2656586">
                  <a:moveTo>
                    <a:pt x="1342263" y="0"/>
                  </a:moveTo>
                  <a:cubicBezTo>
                    <a:pt x="587248" y="0"/>
                    <a:pt x="0" y="587248"/>
                    <a:pt x="0" y="1342390"/>
                  </a:cubicBezTo>
                  <a:cubicBezTo>
                    <a:pt x="0" y="1957705"/>
                    <a:pt x="419481" y="2489073"/>
                    <a:pt x="1006729" y="2628900"/>
                  </a:cubicBezTo>
                  <a:cubicBezTo>
                    <a:pt x="1342263" y="3188208"/>
                    <a:pt x="1342263" y="3188208"/>
                    <a:pt x="1342263" y="3188208"/>
                  </a:cubicBezTo>
                  <a:cubicBezTo>
                    <a:pt x="1649857" y="2628900"/>
                    <a:pt x="1649857" y="2628900"/>
                    <a:pt x="1649857" y="2628900"/>
                  </a:cubicBezTo>
                  <a:cubicBezTo>
                    <a:pt x="2237105" y="2489073"/>
                    <a:pt x="2656586" y="1957705"/>
                    <a:pt x="2656586" y="1342390"/>
                  </a:cubicBezTo>
                  <a:cubicBezTo>
                    <a:pt x="2656459" y="587248"/>
                    <a:pt x="2069338" y="0"/>
                    <a:pt x="1342263" y="0"/>
                  </a:cubicBezTo>
                  <a:close/>
                  <a:moveTo>
                    <a:pt x="1342263" y="2461133"/>
                  </a:moveTo>
                  <a:cubicBezTo>
                    <a:pt x="727075" y="2461133"/>
                    <a:pt x="223774" y="1957705"/>
                    <a:pt x="223774" y="1342390"/>
                  </a:cubicBezTo>
                  <a:cubicBezTo>
                    <a:pt x="223774" y="727075"/>
                    <a:pt x="727075" y="223647"/>
                    <a:pt x="1342263" y="223647"/>
                  </a:cubicBezTo>
                  <a:cubicBezTo>
                    <a:pt x="1957451" y="223647"/>
                    <a:pt x="2432812" y="727075"/>
                    <a:pt x="2432812" y="1342390"/>
                  </a:cubicBezTo>
                  <a:cubicBezTo>
                    <a:pt x="2432812" y="1957705"/>
                    <a:pt x="1957451" y="2461133"/>
                    <a:pt x="1342263" y="246113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33333">
                  <a:srgbClr val="5527F5">
                    <a:alpha val="100000"/>
                  </a:srgbClr>
                </a:gs>
                <a:gs pos="66667">
                  <a:srgbClr val="131FA8">
                    <a:alpha val="100000"/>
                  </a:srgbClr>
                </a:gs>
                <a:gs pos="100000">
                  <a:srgbClr val="9B60EB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AutoShape 34" id="34"/>
          <p:cNvSpPr/>
          <p:nvPr/>
        </p:nvSpPr>
        <p:spPr>
          <a:xfrm>
            <a:off x="13294408" y="6191054"/>
            <a:ext cx="1621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4981145" y="7359224"/>
            <a:ext cx="914381" cy="891458"/>
          </a:xfrm>
          <a:custGeom>
            <a:avLst/>
            <a:gdLst/>
            <a:ahLst/>
            <a:cxnLst/>
            <a:rect r="r" b="b" t="t" l="l"/>
            <a:pathLst>
              <a:path h="891458" w="914381">
                <a:moveTo>
                  <a:pt x="0" y="0"/>
                </a:moveTo>
                <a:lnTo>
                  <a:pt x="914381" y="0"/>
                </a:lnTo>
                <a:lnTo>
                  <a:pt x="914381" y="891457"/>
                </a:lnTo>
                <a:lnTo>
                  <a:pt x="0" y="8914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599220" y="4377567"/>
            <a:ext cx="785310" cy="781351"/>
          </a:xfrm>
          <a:custGeom>
            <a:avLst/>
            <a:gdLst/>
            <a:ahLst/>
            <a:cxnLst/>
            <a:rect r="r" b="b" t="t" l="l"/>
            <a:pathLst>
              <a:path h="781351" w="785310">
                <a:moveTo>
                  <a:pt x="0" y="0"/>
                </a:moveTo>
                <a:lnTo>
                  <a:pt x="785310" y="0"/>
                </a:lnTo>
                <a:lnTo>
                  <a:pt x="785310" y="781351"/>
                </a:lnTo>
                <a:lnTo>
                  <a:pt x="0" y="7813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-1374679" y="260041"/>
            <a:ext cx="5802923" cy="4114800"/>
          </a:xfrm>
          <a:custGeom>
            <a:avLst/>
            <a:gdLst/>
            <a:ahLst/>
            <a:cxnLst/>
            <a:rect r="r" b="b" t="t" l="l"/>
            <a:pathLst>
              <a:path h="4114800" w="5802923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true" flipV="false" rot="0">
            <a:off x="14104979" y="260041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472780" y="2250766"/>
            <a:ext cx="7342441" cy="119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4"/>
              </a:lnSpc>
              <a:spcBef>
                <a:spcPct val="0"/>
              </a:spcBef>
            </a:pPr>
            <a:r>
              <a:rPr lang="en-US" sz="3474" spc="10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ROADMAP DE SPRINTS DEL PROYECTO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68793" y="99956"/>
            <a:ext cx="4750413" cy="206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39"/>
              </a:lnSpc>
              <a:spcBef>
                <a:spcPct val="0"/>
              </a:spcBef>
            </a:pPr>
            <a:r>
              <a:rPr lang="en-US" sz="5956" spc="172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PLAN DE</a:t>
            </a:r>
          </a:p>
          <a:p>
            <a:pPr algn="ctr" marL="0" indent="0" lvl="0">
              <a:lnSpc>
                <a:spcPts val="8339"/>
              </a:lnSpc>
              <a:spcBef>
                <a:spcPct val="0"/>
              </a:spcBef>
            </a:pPr>
            <a:r>
              <a:rPr lang="en-US" sz="5956" spc="172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TRABAJO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33974" y="6482355"/>
            <a:ext cx="2129588" cy="239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7"/>
              </a:lnSpc>
              <a:spcBef>
                <a:spcPct val="0"/>
              </a:spcBef>
            </a:pPr>
            <a:r>
              <a:rPr lang="en-US" b="true" sz="2290" spc="3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Sprint</a:t>
            </a:r>
            <a:r>
              <a:rPr lang="en-US" b="true" sz="2290" spc="3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0 (S1-S4):</a:t>
            </a:r>
            <a:r>
              <a:rPr lang="en-US" sz="2290" spc="3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Requerimientos, arquitectura y modelo de datos.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430082" y="3677199"/>
            <a:ext cx="1747972" cy="199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7"/>
              </a:lnSpc>
              <a:spcBef>
                <a:spcPct val="0"/>
              </a:spcBef>
            </a:pPr>
            <a:r>
              <a:rPr lang="en-US" b="true" sz="2290" spc="3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Sprint 1 (S5-S7): </a:t>
            </a:r>
            <a:r>
              <a:rPr lang="en-US" sz="2290" spc="3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Autentic</a:t>
            </a:r>
            <a:r>
              <a:rPr lang="en-US" sz="2290" spc="3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ación y gestión de clientes.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492011" y="6482355"/>
            <a:ext cx="2694270" cy="199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7"/>
              </a:lnSpc>
            </a:pPr>
            <a:r>
              <a:rPr lang="en-US" b="true" sz="2290" spc="3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Sprint 2 (S8-S10):</a:t>
            </a:r>
            <a:r>
              <a:rPr lang="en-US" sz="2290" spc="3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 marL="0" indent="0" lvl="0">
              <a:lnSpc>
                <a:spcPts val="3207"/>
              </a:lnSpc>
              <a:spcBef>
                <a:spcPct val="0"/>
              </a:spcBef>
            </a:pPr>
            <a:r>
              <a:rPr lang="en-US" sz="2290" spc="3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Gestión de profesores, planes, horarios, sesiones y asistencias.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99914" y="3862462"/>
            <a:ext cx="1747972" cy="199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7"/>
              </a:lnSpc>
              <a:spcBef>
                <a:spcPct val="0"/>
              </a:spcBef>
            </a:pPr>
            <a:r>
              <a:rPr lang="en-US" b="true" sz="2290" spc="3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Sprint 3 (S11-S12):</a:t>
            </a:r>
            <a:r>
              <a:rPr lang="en-US" sz="2290" spc="3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Contr</a:t>
            </a:r>
            <a:r>
              <a:rPr lang="en-US" sz="2290" spc="3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atos digitales y archivos.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81963" y="6472364"/>
            <a:ext cx="2123015" cy="159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7"/>
              </a:lnSpc>
              <a:spcBef>
                <a:spcPct val="0"/>
              </a:spcBef>
            </a:pPr>
            <a:r>
              <a:rPr lang="en-US" b="true" sz="2290" spc="3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Sprint 4 (S13-S14):</a:t>
            </a:r>
            <a:r>
              <a:rPr lang="en-US" sz="2290" spc="3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Correo</a:t>
            </a:r>
            <a:r>
              <a:rPr lang="en-US" sz="2290" spc="3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s, chatbot e integración.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345456" y="3940085"/>
            <a:ext cx="2185759" cy="159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7"/>
              </a:lnSpc>
              <a:spcBef>
                <a:spcPct val="0"/>
              </a:spcBef>
            </a:pPr>
            <a:r>
              <a:rPr lang="en-US" b="true" sz="2290" spc="3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Spri</a:t>
            </a:r>
            <a:r>
              <a:rPr lang="en-US" b="true" sz="2290" spc="3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nt 5 (S15-S18): </a:t>
            </a:r>
            <a:r>
              <a:rPr lang="en-US" sz="2290" spc="3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Pruebas, correcciones y presentación.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29C8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2602D6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75271" y="4335467"/>
            <a:ext cx="4151747" cy="4012321"/>
            <a:chOff x="0" y="0"/>
            <a:chExt cx="4396462" cy="42488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6486" cy="4248785"/>
            </a:xfrm>
            <a:custGeom>
              <a:avLst/>
              <a:gdLst/>
              <a:ahLst/>
              <a:cxnLst/>
              <a:rect r="r" b="b" t="t" l="l"/>
              <a:pathLst>
                <a:path h="4248785" w="4396486">
                  <a:moveTo>
                    <a:pt x="3618865" y="2573274"/>
                  </a:moveTo>
                  <a:cubicBezTo>
                    <a:pt x="4396486" y="1825244"/>
                    <a:pt x="4396486" y="1825244"/>
                    <a:pt x="4396486" y="1825244"/>
                  </a:cubicBezTo>
                  <a:cubicBezTo>
                    <a:pt x="3170301" y="628396"/>
                    <a:pt x="1585087" y="0"/>
                    <a:pt x="0" y="0"/>
                  </a:cubicBezTo>
                  <a:cubicBezTo>
                    <a:pt x="0" y="3440938"/>
                    <a:pt x="0" y="3440938"/>
                    <a:pt x="0" y="3440938"/>
                  </a:cubicBezTo>
                  <a:cubicBezTo>
                    <a:pt x="717804" y="3440938"/>
                    <a:pt x="1405636" y="3710178"/>
                    <a:pt x="1943989" y="4248785"/>
                  </a:cubicBezTo>
                  <a:cubicBezTo>
                    <a:pt x="2901061" y="3321177"/>
                    <a:pt x="2901061" y="3321177"/>
                    <a:pt x="2901061" y="3321177"/>
                  </a:cubicBezTo>
                  <a:cubicBezTo>
                    <a:pt x="3588893" y="3321177"/>
                    <a:pt x="3588893" y="3321177"/>
                    <a:pt x="3588893" y="3321177"/>
                  </a:cubicBezTo>
                  <a:lnTo>
                    <a:pt x="3618738" y="2573147"/>
                  </a:lnTo>
                  <a:close/>
                </a:path>
              </a:pathLst>
            </a:custGeom>
            <a:gradFill rotWithShape="true">
              <a:gsLst>
                <a:gs pos="0">
                  <a:srgbClr val="844EEA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04106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61923" y="4311113"/>
            <a:ext cx="4632402" cy="4036675"/>
            <a:chOff x="0" y="0"/>
            <a:chExt cx="4875852" cy="42488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5784" cy="4248785"/>
            </a:xfrm>
            <a:custGeom>
              <a:avLst/>
              <a:gdLst/>
              <a:ahLst/>
              <a:cxnLst/>
              <a:rect r="r" b="b" t="t" l="l"/>
              <a:pathLst>
                <a:path h="4248785" w="4875784">
                  <a:moveTo>
                    <a:pt x="4367276" y="1077214"/>
                  </a:moveTo>
                  <a:cubicBezTo>
                    <a:pt x="4367276" y="0"/>
                    <a:pt x="4367276" y="0"/>
                    <a:pt x="4367276" y="0"/>
                  </a:cubicBezTo>
                  <a:cubicBezTo>
                    <a:pt x="2662301" y="0"/>
                    <a:pt x="1136650" y="718058"/>
                    <a:pt x="0" y="1825244"/>
                  </a:cubicBezTo>
                  <a:cubicBezTo>
                    <a:pt x="2452878" y="4248785"/>
                    <a:pt x="2452878" y="4248785"/>
                    <a:pt x="2452878" y="4248785"/>
                  </a:cubicBezTo>
                  <a:cubicBezTo>
                    <a:pt x="2931541" y="3769995"/>
                    <a:pt x="3619500" y="3440938"/>
                    <a:pt x="4367276" y="3440938"/>
                  </a:cubicBezTo>
                  <a:cubicBezTo>
                    <a:pt x="4367276" y="2124456"/>
                    <a:pt x="4367276" y="2124456"/>
                    <a:pt x="4367276" y="2124456"/>
                  </a:cubicBezTo>
                  <a:cubicBezTo>
                    <a:pt x="4875784" y="1615821"/>
                    <a:pt x="4875784" y="1615821"/>
                    <a:pt x="4875784" y="1615821"/>
                  </a:cubicBezTo>
                  <a:lnTo>
                    <a:pt x="4367276" y="1077214"/>
                  </a:lnTo>
                  <a:close/>
                </a:path>
              </a:pathLst>
            </a:custGeom>
            <a:gradFill rotWithShape="true">
              <a:gsLst>
                <a:gs pos="0">
                  <a:srgbClr val="041069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98433" y="6088592"/>
            <a:ext cx="4083222" cy="4198408"/>
            <a:chOff x="0" y="0"/>
            <a:chExt cx="4248457" cy="43683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48404" cy="4368292"/>
            </a:xfrm>
            <a:custGeom>
              <a:avLst/>
              <a:gdLst/>
              <a:ahLst/>
              <a:cxnLst/>
              <a:rect r="r" b="b" t="t" l="l"/>
              <a:pathLst>
                <a:path h="4368292" w="4248404">
                  <a:moveTo>
                    <a:pt x="4248404" y="4368292"/>
                  </a:moveTo>
                  <a:cubicBezTo>
                    <a:pt x="4248404" y="2662809"/>
                    <a:pt x="3560318" y="1107059"/>
                    <a:pt x="2453386" y="0"/>
                  </a:cubicBezTo>
                  <a:cubicBezTo>
                    <a:pt x="0" y="2423541"/>
                    <a:pt x="0" y="2423541"/>
                    <a:pt x="0" y="2423541"/>
                  </a:cubicBezTo>
                  <a:cubicBezTo>
                    <a:pt x="508635" y="2932176"/>
                    <a:pt x="807847" y="3620389"/>
                    <a:pt x="807847" y="4368292"/>
                  </a:cubicBezTo>
                  <a:lnTo>
                    <a:pt x="4248404" y="4368292"/>
                  </a:lnTo>
                  <a:close/>
                </a:path>
              </a:pathLst>
            </a:custGeom>
            <a:gradFill rotWithShape="true">
              <a:gsLst>
                <a:gs pos="0">
                  <a:srgbClr val="9B60EB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131FA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206345" y="6088592"/>
            <a:ext cx="4083222" cy="4198408"/>
            <a:chOff x="0" y="0"/>
            <a:chExt cx="4248457" cy="43683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48531" cy="4368292"/>
            </a:xfrm>
            <a:custGeom>
              <a:avLst/>
              <a:gdLst/>
              <a:ahLst/>
              <a:cxnLst/>
              <a:rect r="r" b="b" t="t" l="l"/>
              <a:pathLst>
                <a:path h="4368292" w="4248531">
                  <a:moveTo>
                    <a:pt x="0" y="4368292"/>
                  </a:moveTo>
                  <a:cubicBezTo>
                    <a:pt x="3440684" y="4368292"/>
                    <a:pt x="3440684" y="4368292"/>
                    <a:pt x="3440684" y="4368292"/>
                  </a:cubicBezTo>
                  <a:cubicBezTo>
                    <a:pt x="3440684" y="3680079"/>
                    <a:pt x="3709924" y="2962021"/>
                    <a:pt x="4248531" y="2423541"/>
                  </a:cubicBezTo>
                  <a:cubicBezTo>
                    <a:pt x="3291078" y="1496060"/>
                    <a:pt x="3291078" y="1496060"/>
                    <a:pt x="3291078" y="1496060"/>
                  </a:cubicBezTo>
                  <a:cubicBezTo>
                    <a:pt x="3261106" y="748030"/>
                    <a:pt x="3261106" y="748030"/>
                    <a:pt x="3261106" y="748030"/>
                  </a:cubicBezTo>
                  <a:cubicBezTo>
                    <a:pt x="2573020" y="748030"/>
                    <a:pt x="2573020" y="748030"/>
                    <a:pt x="2573020" y="748030"/>
                  </a:cubicBezTo>
                  <a:cubicBezTo>
                    <a:pt x="1795145" y="0"/>
                    <a:pt x="1795145" y="0"/>
                    <a:pt x="1795145" y="0"/>
                  </a:cubicBezTo>
                  <a:cubicBezTo>
                    <a:pt x="598424" y="1196848"/>
                    <a:pt x="0" y="2782570"/>
                    <a:pt x="0" y="436829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4EEA">
                    <a:alpha val="100000"/>
                  </a:srgbClr>
                </a:gs>
                <a:gs pos="50000">
                  <a:srgbClr val="5527F5">
                    <a:alpha val="100000"/>
                  </a:srgbClr>
                </a:gs>
                <a:gs pos="100000">
                  <a:srgbClr val="04106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779745" y="397743"/>
            <a:ext cx="5506215" cy="800904"/>
          </a:xfrm>
          <a:custGeom>
            <a:avLst/>
            <a:gdLst/>
            <a:ahLst/>
            <a:cxnLst/>
            <a:rect r="r" b="b" t="t" l="l"/>
            <a:pathLst>
              <a:path h="800904" w="5506215">
                <a:moveTo>
                  <a:pt x="0" y="0"/>
                </a:moveTo>
                <a:lnTo>
                  <a:pt x="5506215" y="0"/>
                </a:lnTo>
                <a:lnTo>
                  <a:pt x="5506215" y="800904"/>
                </a:lnTo>
                <a:lnTo>
                  <a:pt x="0" y="800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112026" y="-107671"/>
            <a:ext cx="7315200" cy="505414"/>
          </a:xfrm>
          <a:custGeom>
            <a:avLst/>
            <a:gdLst/>
            <a:ahLst/>
            <a:cxnLst/>
            <a:rect r="r" b="b" t="t" l="l"/>
            <a:pathLst>
              <a:path h="505414" w="7315200">
                <a:moveTo>
                  <a:pt x="0" y="0"/>
                </a:moveTo>
                <a:lnTo>
                  <a:pt x="7315200" y="0"/>
                </a:lnTo>
                <a:lnTo>
                  <a:pt x="7315200" y="505414"/>
                </a:lnTo>
                <a:lnTo>
                  <a:pt x="0" y="50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73271" y="5378672"/>
            <a:ext cx="895541" cy="709919"/>
          </a:xfrm>
          <a:custGeom>
            <a:avLst/>
            <a:gdLst/>
            <a:ahLst/>
            <a:cxnLst/>
            <a:rect r="r" b="b" t="t" l="l"/>
            <a:pathLst>
              <a:path h="709919" w="895541">
                <a:moveTo>
                  <a:pt x="0" y="0"/>
                </a:moveTo>
                <a:lnTo>
                  <a:pt x="895540" y="0"/>
                </a:lnTo>
                <a:lnTo>
                  <a:pt x="895540" y="709920"/>
                </a:lnTo>
                <a:lnTo>
                  <a:pt x="0" y="709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889685" y="7631247"/>
            <a:ext cx="716541" cy="716541"/>
          </a:xfrm>
          <a:custGeom>
            <a:avLst/>
            <a:gdLst/>
            <a:ahLst/>
            <a:cxnLst/>
            <a:rect r="r" b="b" t="t" l="l"/>
            <a:pathLst>
              <a:path h="716541" w="716541">
                <a:moveTo>
                  <a:pt x="0" y="0"/>
                </a:moveTo>
                <a:lnTo>
                  <a:pt x="716542" y="0"/>
                </a:lnTo>
                <a:lnTo>
                  <a:pt x="716542" y="716541"/>
                </a:lnTo>
                <a:lnTo>
                  <a:pt x="0" y="7165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624569" y="5378672"/>
            <a:ext cx="747727" cy="715670"/>
          </a:xfrm>
          <a:custGeom>
            <a:avLst/>
            <a:gdLst/>
            <a:ahLst/>
            <a:cxnLst/>
            <a:rect r="r" b="b" t="t" l="l"/>
            <a:pathLst>
              <a:path h="715670" w="747727">
                <a:moveTo>
                  <a:pt x="0" y="0"/>
                </a:moveTo>
                <a:lnTo>
                  <a:pt x="747728" y="0"/>
                </a:lnTo>
                <a:lnTo>
                  <a:pt x="747728" y="715671"/>
                </a:lnTo>
                <a:lnTo>
                  <a:pt x="0" y="7156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825633" y="7621763"/>
            <a:ext cx="871864" cy="726025"/>
          </a:xfrm>
          <a:custGeom>
            <a:avLst/>
            <a:gdLst/>
            <a:ahLst/>
            <a:cxnLst/>
            <a:rect r="r" b="b" t="t" l="l"/>
            <a:pathLst>
              <a:path h="726025" w="871864">
                <a:moveTo>
                  <a:pt x="0" y="0"/>
                </a:moveTo>
                <a:lnTo>
                  <a:pt x="871865" y="0"/>
                </a:lnTo>
                <a:lnTo>
                  <a:pt x="871865" y="726025"/>
                </a:lnTo>
                <a:lnTo>
                  <a:pt x="0" y="726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112026" y="9258300"/>
            <a:ext cx="3110162" cy="559829"/>
          </a:xfrm>
          <a:custGeom>
            <a:avLst/>
            <a:gdLst/>
            <a:ahLst/>
            <a:cxnLst/>
            <a:rect r="r" b="b" t="t" l="l"/>
            <a:pathLst>
              <a:path h="559829" w="3110162">
                <a:moveTo>
                  <a:pt x="0" y="0"/>
                </a:moveTo>
                <a:lnTo>
                  <a:pt x="3110162" y="0"/>
                </a:lnTo>
                <a:lnTo>
                  <a:pt x="3110162" y="559829"/>
                </a:lnTo>
                <a:lnTo>
                  <a:pt x="0" y="5598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081655" y="9781586"/>
            <a:ext cx="7315200" cy="505414"/>
          </a:xfrm>
          <a:custGeom>
            <a:avLst/>
            <a:gdLst/>
            <a:ahLst/>
            <a:cxnLst/>
            <a:rect r="r" b="b" t="t" l="l"/>
            <a:pathLst>
              <a:path h="505414" w="7315200">
                <a:moveTo>
                  <a:pt x="0" y="0"/>
                </a:moveTo>
                <a:lnTo>
                  <a:pt x="7315200" y="0"/>
                </a:lnTo>
                <a:lnTo>
                  <a:pt x="7315200" y="505414"/>
                </a:lnTo>
                <a:lnTo>
                  <a:pt x="0" y="50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401379" y="1084347"/>
            <a:ext cx="7485242" cy="101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5971" spc="173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CARTA GANTT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40807" y="2350641"/>
            <a:ext cx="9578631" cy="58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9"/>
              </a:lnSpc>
              <a:spcBef>
                <a:spcPct val="0"/>
              </a:spcBef>
            </a:pPr>
            <a:r>
              <a:rPr lang="en-US" sz="1663" spc="28" strike="noStrike" u="none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Planificación visual de las actividades principales del proyecto Power Fit, organizadas en fases desde el análisis inicial hasta la presentación y entrega final.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66300" y="8548088"/>
            <a:ext cx="2163312" cy="550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Desarrollo e Integración de Funcionalidades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79909" y="8405290"/>
            <a:ext cx="2163312" cy="82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Pruebas, Correcciones, Documentación y Entrega Final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39385" y="6197135"/>
            <a:ext cx="2163312" cy="82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Análisis, Requerimientos y Definición de Objetivos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16777" y="6197135"/>
            <a:ext cx="2163312" cy="550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5"/>
              </a:lnSpc>
              <a:spcBef>
                <a:spcPct val="0"/>
              </a:spcBef>
            </a:pPr>
            <a:r>
              <a:rPr lang="en-US" sz="1582" spc="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Planificación y Diseño de Interfaces y BD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25000">
              <a:srgbClr val="091689">
                <a:alpha val="100000"/>
              </a:srgbClr>
            </a:gs>
            <a:gs pos="50000">
              <a:srgbClr val="3820AD">
                <a:alpha val="100000"/>
              </a:srgbClr>
            </a:gs>
            <a:gs pos="75000">
              <a:srgbClr val="3820AD">
                <a:alpha val="100000"/>
              </a:srgbClr>
            </a:gs>
            <a:gs pos="100000">
              <a:srgbClr val="200D7B">
                <a:alpha val="100000"/>
              </a:srgbClr>
            </a:gs>
          </a:gsLst>
          <a:lin ang="2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40266" y="5973981"/>
            <a:ext cx="5607467" cy="3295158"/>
            <a:chOff x="0" y="0"/>
            <a:chExt cx="1753733" cy="1030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3732" cy="1030559"/>
            </a:xfrm>
            <a:custGeom>
              <a:avLst/>
              <a:gdLst/>
              <a:ahLst/>
              <a:cxnLst/>
              <a:rect r="r" b="b" t="t" l="l"/>
              <a:pathLst>
                <a:path h="1030559" w="1753732">
                  <a:moveTo>
                    <a:pt x="19329" y="0"/>
                  </a:moveTo>
                  <a:lnTo>
                    <a:pt x="1734403" y="0"/>
                  </a:lnTo>
                  <a:cubicBezTo>
                    <a:pt x="1739530" y="0"/>
                    <a:pt x="1744446" y="2036"/>
                    <a:pt x="1748071" y="5661"/>
                  </a:cubicBezTo>
                  <a:cubicBezTo>
                    <a:pt x="1751696" y="9286"/>
                    <a:pt x="1753732" y="14203"/>
                    <a:pt x="1753732" y="19329"/>
                  </a:cubicBezTo>
                  <a:lnTo>
                    <a:pt x="1753732" y="1011230"/>
                  </a:lnTo>
                  <a:cubicBezTo>
                    <a:pt x="1753732" y="1016356"/>
                    <a:pt x="1751696" y="1021273"/>
                    <a:pt x="1748071" y="1024898"/>
                  </a:cubicBezTo>
                  <a:cubicBezTo>
                    <a:pt x="1744446" y="1028523"/>
                    <a:pt x="1739530" y="1030559"/>
                    <a:pt x="1734403" y="1030559"/>
                  </a:cubicBezTo>
                  <a:lnTo>
                    <a:pt x="19329" y="1030559"/>
                  </a:lnTo>
                  <a:cubicBezTo>
                    <a:pt x="14203" y="1030559"/>
                    <a:pt x="9286" y="1028523"/>
                    <a:pt x="5661" y="1024898"/>
                  </a:cubicBezTo>
                  <a:cubicBezTo>
                    <a:pt x="2036" y="1021273"/>
                    <a:pt x="0" y="1016356"/>
                    <a:pt x="0" y="1011230"/>
                  </a:cubicBezTo>
                  <a:lnTo>
                    <a:pt x="0" y="19329"/>
                  </a:lnTo>
                  <a:cubicBezTo>
                    <a:pt x="0" y="14203"/>
                    <a:pt x="2036" y="9286"/>
                    <a:pt x="5661" y="5661"/>
                  </a:cubicBezTo>
                  <a:cubicBezTo>
                    <a:pt x="9286" y="2036"/>
                    <a:pt x="14203" y="0"/>
                    <a:pt x="1932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7000"/>
                  </a:srgbClr>
                </a:gs>
                <a:gs pos="50000">
                  <a:srgbClr val="091689">
                    <a:alpha val="77000"/>
                  </a:srgbClr>
                </a:gs>
                <a:gs pos="100000">
                  <a:srgbClr val="3820AD">
                    <a:alpha val="77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>
                  <a:alpha val="76863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53733" cy="1068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7812427" y="4410100"/>
            <a:ext cx="2663145" cy="2652743"/>
            <a:chOff x="0" y="0"/>
            <a:chExt cx="6502400" cy="647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2"/>
              <a:stretch>
                <a:fillRect l="-27" t="0" r="-27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21081" y="521971"/>
            <a:ext cx="5802923" cy="4114800"/>
          </a:xfrm>
          <a:custGeom>
            <a:avLst/>
            <a:gdLst/>
            <a:ahLst/>
            <a:cxnLst/>
            <a:rect r="r" b="b" t="t" l="l"/>
            <a:pathLst>
              <a:path h="4114800" w="5802923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2063996" y="5773362"/>
            <a:ext cx="5802923" cy="4114800"/>
          </a:xfrm>
          <a:custGeom>
            <a:avLst/>
            <a:gdLst/>
            <a:ahLst/>
            <a:cxnLst/>
            <a:rect r="r" b="b" t="t" l="l"/>
            <a:pathLst>
              <a:path h="4114800" w="5802923">
                <a:moveTo>
                  <a:pt x="580292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02923" y="0"/>
                </a:lnTo>
                <a:lnTo>
                  <a:pt x="5802923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6528547" y="607696"/>
            <a:ext cx="1094224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752883" y="9745287"/>
            <a:ext cx="1094224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5825862" y="3077914"/>
            <a:ext cx="6636277" cy="119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2"/>
              </a:lnSpc>
              <a:spcBef>
                <a:spcPct val="0"/>
              </a:spcBef>
            </a:pPr>
            <a:r>
              <a:rPr lang="en-US" sz="2301" spc="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Durante la Fase 1 se definieron la problemática, la solución CRM, los objetivos, la factibilidad y la planificación del proyecto Focus Power Fit.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85995" y="1759034"/>
            <a:ext cx="9916010" cy="106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52"/>
              </a:lnSpc>
              <a:spcBef>
                <a:spcPct val="0"/>
              </a:spcBef>
            </a:pPr>
            <a:r>
              <a:rPr lang="en-US" sz="6251" spc="181" strike="noStrike" u="none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¿PREGUNTAS?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37720" y="7472444"/>
            <a:ext cx="3551750" cy="156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5"/>
              </a:lnSpc>
            </a:pPr>
            <a:r>
              <a:rPr lang="en-US" sz="1796" spc="3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Validar requerimientos · Finalizar diseños · Implementar sucursales y funcionalidades CRM · Desarrollar el chatbot · Ejecutar pruebas · Generar 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23823" y="7145283"/>
            <a:ext cx="4440355" cy="36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1"/>
              </a:lnSpc>
              <a:spcBef>
                <a:spcPct val="0"/>
              </a:spcBef>
            </a:pPr>
            <a:r>
              <a:rPr lang="en-US" sz="2093" spc="3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Próximos Pasos — Fase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DAHUAkMGaCM</dc:identifier>
  <dcterms:modified xsi:type="dcterms:W3CDTF">2011-08-01T06:04:30Z</dcterms:modified>
  <cp:revision>1</cp:revision>
  <dc:title>Power Fit: Gestión Web de Gimnasios</dc:title>
</cp:coreProperties>
</file>